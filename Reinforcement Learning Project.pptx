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71" r:id="rId9"/>
    <p:sldId id="267" r:id="rId10"/>
    <p:sldId id="268" r:id="rId11"/>
    <p:sldId id="269" r:id="rId12"/>
    <p:sldId id="272" r:id="rId13"/>
    <p:sldId id="273" r:id="rId14"/>
    <p:sldId id="274" r:id="rId15"/>
    <p:sldId id="275" r:id="rId16"/>
    <p:sldId id="276" r:id="rId17"/>
    <p:sldId id="278" r:id="rId18"/>
    <p:sldId id="281" r:id="rId19"/>
    <p:sldId id="295" r:id="rId20"/>
    <p:sldId id="288" r:id="rId21"/>
    <p:sldId id="290" r:id="rId22"/>
    <p:sldId id="284" r:id="rId23"/>
    <p:sldId id="292" r:id="rId24"/>
    <p:sldId id="294" r:id="rId25"/>
    <p:sldId id="285" r:id="rId26"/>
    <p:sldId id="296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DD03D4-753B-4CE2-9142-AEF562D34025}" v="4" dt="2026-06-28T07:34:02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סגנון בהיר 1 - הדגשה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סגנון ביניים 2 - הדגשה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3203" autoAdjust="0"/>
  </p:normalViewPr>
  <p:slideViewPr>
    <p:cSldViewPr snapToGrid="0">
      <p:cViewPr varScale="1">
        <p:scale>
          <a:sx n="103" d="100"/>
          <a:sy n="103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53890E-BE6B-4371-8A13-FC1972003FAC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1CB54FD5-F6DF-4668-8CF7-ED6B95548E57}">
      <dgm:prSet phldrT="[טקסט]"/>
      <dgm:spPr/>
      <dgm:t>
        <a:bodyPr/>
        <a:lstStyle/>
        <a:p>
          <a:pPr rtl="1">
            <a:buNone/>
          </a:pPr>
          <a:r>
            <a:rPr lang="he-IL" err="1"/>
            <a:t>State</a:t>
          </a:r>
          <a:r>
            <a:rPr lang="he-IL"/>
            <a:t> </a:t>
          </a:r>
        </a:p>
      </dgm:t>
    </dgm:pt>
    <dgm:pt modelId="{C49DE125-5C08-4458-9EB7-ABEF89DFC557}" type="parTrans" cxnId="{5C0BBFE7-F0BF-47CE-A7C2-9A6100A6EE8B}">
      <dgm:prSet/>
      <dgm:spPr/>
      <dgm:t>
        <a:bodyPr/>
        <a:lstStyle/>
        <a:p>
          <a:pPr rtl="1"/>
          <a:endParaRPr lang="he-IL"/>
        </a:p>
      </dgm:t>
    </dgm:pt>
    <dgm:pt modelId="{D0091102-E0EE-47E0-B9FE-B0327B6725BD}" type="sibTrans" cxnId="{5C0BBFE7-F0BF-47CE-A7C2-9A6100A6EE8B}">
      <dgm:prSet/>
      <dgm:spPr/>
      <dgm:t>
        <a:bodyPr/>
        <a:lstStyle/>
        <a:p>
          <a:pPr rtl="1"/>
          <a:endParaRPr lang="he-IL"/>
        </a:p>
      </dgm:t>
    </dgm:pt>
    <dgm:pt modelId="{ECCFF544-E9E7-4E3B-93B4-B33C3CEF08B5}">
      <dgm:prSet phldrT="[טקסט]"/>
      <dgm:spPr/>
      <dgm:t>
        <a:bodyPr/>
        <a:lstStyle/>
        <a:p>
          <a:pPr rtl="1">
            <a:buNone/>
          </a:pPr>
          <a:r>
            <a:rPr lang="he-IL" err="1"/>
            <a:t>Next</a:t>
          </a:r>
          <a:r>
            <a:rPr lang="he-IL"/>
            <a:t> </a:t>
          </a:r>
          <a:r>
            <a:rPr lang="he-IL" err="1"/>
            <a:t>State</a:t>
          </a:r>
          <a:endParaRPr lang="he-IL"/>
        </a:p>
      </dgm:t>
    </dgm:pt>
    <dgm:pt modelId="{F912ED11-6A21-4189-B05C-501481D0AA38}" type="parTrans" cxnId="{1E5B193B-5920-4588-ACAB-9359E918D909}">
      <dgm:prSet/>
      <dgm:spPr/>
      <dgm:t>
        <a:bodyPr/>
        <a:lstStyle/>
        <a:p>
          <a:pPr rtl="1"/>
          <a:endParaRPr lang="he-IL"/>
        </a:p>
      </dgm:t>
    </dgm:pt>
    <dgm:pt modelId="{AC0CB5DC-513A-43F1-9715-13A1256BCA2D}" type="sibTrans" cxnId="{1E5B193B-5920-4588-ACAB-9359E918D909}">
      <dgm:prSet/>
      <dgm:spPr/>
      <dgm:t>
        <a:bodyPr/>
        <a:lstStyle/>
        <a:p>
          <a:pPr rtl="1"/>
          <a:endParaRPr lang="he-IL"/>
        </a:p>
      </dgm:t>
    </dgm:pt>
    <dgm:pt modelId="{CED685E1-E30A-4503-BF12-B30DA6B6DED5}">
      <dgm:prSet phldrT="[טקסט]"/>
      <dgm:spPr/>
      <dgm:t>
        <a:bodyPr/>
        <a:lstStyle/>
        <a:p>
          <a:pPr rtl="1">
            <a:buNone/>
          </a:pPr>
          <a:r>
            <a:rPr lang="he-IL" err="1"/>
            <a:t>Next</a:t>
          </a:r>
          <a:r>
            <a:rPr lang="he-IL"/>
            <a:t> </a:t>
          </a:r>
          <a:r>
            <a:rPr lang="he-IL" err="1"/>
            <a:t>Action</a:t>
          </a:r>
          <a:endParaRPr lang="he-IL"/>
        </a:p>
      </dgm:t>
    </dgm:pt>
    <dgm:pt modelId="{CC8325FB-1BB9-4C64-B4A6-BB7C96A91398}" type="parTrans" cxnId="{559C0DF5-8033-42EC-8363-1D1222564742}">
      <dgm:prSet/>
      <dgm:spPr/>
      <dgm:t>
        <a:bodyPr/>
        <a:lstStyle/>
        <a:p>
          <a:pPr rtl="1"/>
          <a:endParaRPr lang="he-IL"/>
        </a:p>
      </dgm:t>
    </dgm:pt>
    <dgm:pt modelId="{75FF35C3-8715-4CF9-B12F-A22E336F06A5}" type="sibTrans" cxnId="{559C0DF5-8033-42EC-8363-1D1222564742}">
      <dgm:prSet/>
      <dgm:spPr/>
      <dgm:t>
        <a:bodyPr/>
        <a:lstStyle/>
        <a:p>
          <a:pPr rtl="1"/>
          <a:endParaRPr lang="he-IL"/>
        </a:p>
      </dgm:t>
    </dgm:pt>
    <dgm:pt modelId="{6BD2B288-AA34-4B51-99A2-C4AD918B7A22}">
      <dgm:prSet phldrT="[טקסט]"/>
      <dgm:spPr/>
      <dgm:t>
        <a:bodyPr/>
        <a:lstStyle/>
        <a:p>
          <a:pPr rtl="1">
            <a:buNone/>
          </a:pPr>
          <a:r>
            <a:rPr lang="he-IL" err="1"/>
            <a:t>Reward</a:t>
          </a:r>
          <a:r>
            <a:rPr lang="he-IL"/>
            <a:t> </a:t>
          </a:r>
        </a:p>
      </dgm:t>
    </dgm:pt>
    <dgm:pt modelId="{04677043-3616-43CD-AB1A-9DEEAF8F96F1}" type="parTrans" cxnId="{3ACFF5ED-8704-410B-8708-4677C5834171}">
      <dgm:prSet/>
      <dgm:spPr/>
      <dgm:t>
        <a:bodyPr/>
        <a:lstStyle/>
        <a:p>
          <a:pPr rtl="1"/>
          <a:endParaRPr lang="he-IL"/>
        </a:p>
      </dgm:t>
    </dgm:pt>
    <dgm:pt modelId="{895200AD-0F23-4910-B96D-F780FE90B9DC}" type="sibTrans" cxnId="{3ACFF5ED-8704-410B-8708-4677C5834171}">
      <dgm:prSet/>
      <dgm:spPr/>
      <dgm:t>
        <a:bodyPr/>
        <a:lstStyle/>
        <a:p>
          <a:pPr rtl="1"/>
          <a:endParaRPr lang="he-IL"/>
        </a:p>
      </dgm:t>
    </dgm:pt>
    <dgm:pt modelId="{C01CC06F-DBCF-4495-A90D-250439EBA126}">
      <dgm:prSet phldrT="[טקסט]"/>
      <dgm:spPr/>
      <dgm:t>
        <a:bodyPr/>
        <a:lstStyle/>
        <a:p>
          <a:pPr rtl="1">
            <a:buNone/>
          </a:pPr>
          <a:r>
            <a:rPr lang="he-IL" err="1"/>
            <a:t>Action</a:t>
          </a:r>
          <a:r>
            <a:rPr lang="he-IL"/>
            <a:t> </a:t>
          </a:r>
        </a:p>
      </dgm:t>
    </dgm:pt>
    <dgm:pt modelId="{C39E2DF9-DAD3-4CC8-B40F-733F5ECE57D8}" type="parTrans" cxnId="{6991099C-B2D6-4488-BD4D-CC0C32971D92}">
      <dgm:prSet/>
      <dgm:spPr/>
      <dgm:t>
        <a:bodyPr/>
        <a:lstStyle/>
        <a:p>
          <a:pPr rtl="1"/>
          <a:endParaRPr lang="he-IL"/>
        </a:p>
      </dgm:t>
    </dgm:pt>
    <dgm:pt modelId="{46A80146-22A4-4E2C-884F-80736FB54703}" type="sibTrans" cxnId="{6991099C-B2D6-4488-BD4D-CC0C32971D92}">
      <dgm:prSet/>
      <dgm:spPr/>
      <dgm:t>
        <a:bodyPr/>
        <a:lstStyle/>
        <a:p>
          <a:pPr rtl="1"/>
          <a:endParaRPr lang="he-IL"/>
        </a:p>
      </dgm:t>
    </dgm:pt>
    <dgm:pt modelId="{B7D89D54-AC2F-47B1-925A-757550C8FB83}" type="pres">
      <dgm:prSet presAssocID="{C153890E-BE6B-4371-8A13-FC1972003FAC}" presName="Name0" presStyleCnt="0">
        <dgm:presLayoutVars>
          <dgm:dir/>
          <dgm:resizeHandles val="exact"/>
        </dgm:presLayoutVars>
      </dgm:prSet>
      <dgm:spPr/>
    </dgm:pt>
    <dgm:pt modelId="{0D29328D-0359-486B-A578-43DE0DB0D997}" type="pres">
      <dgm:prSet presAssocID="{1CB54FD5-F6DF-4668-8CF7-ED6B95548E57}" presName="node" presStyleLbl="node1" presStyleIdx="0" presStyleCnt="5">
        <dgm:presLayoutVars>
          <dgm:bulletEnabled val="1"/>
        </dgm:presLayoutVars>
      </dgm:prSet>
      <dgm:spPr/>
    </dgm:pt>
    <dgm:pt modelId="{27FF70AB-E3B3-4179-AE68-AD5AE4435755}" type="pres">
      <dgm:prSet presAssocID="{D0091102-E0EE-47E0-B9FE-B0327B6725BD}" presName="sibTrans" presStyleLbl="sibTrans2D1" presStyleIdx="0" presStyleCnt="4"/>
      <dgm:spPr/>
    </dgm:pt>
    <dgm:pt modelId="{3B79C6B2-4D00-4687-9E25-A9CCCB2122D6}" type="pres">
      <dgm:prSet presAssocID="{D0091102-E0EE-47E0-B9FE-B0327B6725BD}" presName="connectorText" presStyleLbl="sibTrans2D1" presStyleIdx="0" presStyleCnt="4"/>
      <dgm:spPr/>
    </dgm:pt>
    <dgm:pt modelId="{2AFFF8BF-4827-435C-AE17-B8A08BD74856}" type="pres">
      <dgm:prSet presAssocID="{C01CC06F-DBCF-4495-A90D-250439EBA126}" presName="node" presStyleLbl="node1" presStyleIdx="1" presStyleCnt="5">
        <dgm:presLayoutVars>
          <dgm:bulletEnabled val="1"/>
        </dgm:presLayoutVars>
      </dgm:prSet>
      <dgm:spPr/>
    </dgm:pt>
    <dgm:pt modelId="{7602582F-33C9-4B91-B529-1914B2539515}" type="pres">
      <dgm:prSet presAssocID="{46A80146-22A4-4E2C-884F-80736FB54703}" presName="sibTrans" presStyleLbl="sibTrans2D1" presStyleIdx="1" presStyleCnt="4"/>
      <dgm:spPr/>
    </dgm:pt>
    <dgm:pt modelId="{DAFB7F17-E618-456B-B779-5A5532CDF08F}" type="pres">
      <dgm:prSet presAssocID="{46A80146-22A4-4E2C-884F-80736FB54703}" presName="connectorText" presStyleLbl="sibTrans2D1" presStyleIdx="1" presStyleCnt="4"/>
      <dgm:spPr/>
    </dgm:pt>
    <dgm:pt modelId="{70B83020-ABC5-424B-8619-B979DEADFB45}" type="pres">
      <dgm:prSet presAssocID="{6BD2B288-AA34-4B51-99A2-C4AD918B7A22}" presName="node" presStyleLbl="node1" presStyleIdx="2" presStyleCnt="5">
        <dgm:presLayoutVars>
          <dgm:bulletEnabled val="1"/>
        </dgm:presLayoutVars>
      </dgm:prSet>
      <dgm:spPr/>
    </dgm:pt>
    <dgm:pt modelId="{FEBEDE85-5846-40C4-87DC-EB3D83A80316}" type="pres">
      <dgm:prSet presAssocID="{895200AD-0F23-4910-B96D-F780FE90B9DC}" presName="sibTrans" presStyleLbl="sibTrans2D1" presStyleIdx="2" presStyleCnt="4"/>
      <dgm:spPr/>
    </dgm:pt>
    <dgm:pt modelId="{2001BB89-EEB8-4771-83D5-085CD4D82A71}" type="pres">
      <dgm:prSet presAssocID="{895200AD-0F23-4910-B96D-F780FE90B9DC}" presName="connectorText" presStyleLbl="sibTrans2D1" presStyleIdx="2" presStyleCnt="4"/>
      <dgm:spPr/>
    </dgm:pt>
    <dgm:pt modelId="{E6AEAD7F-3124-48A1-B2A9-9A20C446EC46}" type="pres">
      <dgm:prSet presAssocID="{ECCFF544-E9E7-4E3B-93B4-B33C3CEF08B5}" presName="node" presStyleLbl="node1" presStyleIdx="3" presStyleCnt="5">
        <dgm:presLayoutVars>
          <dgm:bulletEnabled val="1"/>
        </dgm:presLayoutVars>
      </dgm:prSet>
      <dgm:spPr/>
    </dgm:pt>
    <dgm:pt modelId="{9CDEAAE7-A725-4725-97BD-B646B973DF04}" type="pres">
      <dgm:prSet presAssocID="{AC0CB5DC-513A-43F1-9715-13A1256BCA2D}" presName="sibTrans" presStyleLbl="sibTrans2D1" presStyleIdx="3" presStyleCnt="4"/>
      <dgm:spPr/>
    </dgm:pt>
    <dgm:pt modelId="{7E5900EA-E426-4851-8B74-54BF17500FD2}" type="pres">
      <dgm:prSet presAssocID="{AC0CB5DC-513A-43F1-9715-13A1256BCA2D}" presName="connectorText" presStyleLbl="sibTrans2D1" presStyleIdx="3" presStyleCnt="4"/>
      <dgm:spPr/>
    </dgm:pt>
    <dgm:pt modelId="{A18A97AD-3160-4F65-A475-3655C4029448}" type="pres">
      <dgm:prSet presAssocID="{CED685E1-E30A-4503-BF12-B30DA6B6DED5}" presName="node" presStyleLbl="node1" presStyleIdx="4" presStyleCnt="5">
        <dgm:presLayoutVars>
          <dgm:bulletEnabled val="1"/>
        </dgm:presLayoutVars>
      </dgm:prSet>
      <dgm:spPr/>
    </dgm:pt>
  </dgm:ptLst>
  <dgm:cxnLst>
    <dgm:cxn modelId="{9592AB0A-5E92-4789-B9FF-44D0C7EADB40}" type="presOf" srcId="{D0091102-E0EE-47E0-B9FE-B0327B6725BD}" destId="{3B79C6B2-4D00-4687-9E25-A9CCCB2122D6}" srcOrd="1" destOrd="0" presId="urn:microsoft.com/office/officeart/2005/8/layout/process1"/>
    <dgm:cxn modelId="{46339610-AD21-4B37-830F-C78DE9BA9BEE}" type="presOf" srcId="{AC0CB5DC-513A-43F1-9715-13A1256BCA2D}" destId="{9CDEAAE7-A725-4725-97BD-B646B973DF04}" srcOrd="0" destOrd="0" presId="urn:microsoft.com/office/officeart/2005/8/layout/process1"/>
    <dgm:cxn modelId="{7ACB3316-696D-4BDE-9D49-2587C922E1ED}" type="presOf" srcId="{AC0CB5DC-513A-43F1-9715-13A1256BCA2D}" destId="{7E5900EA-E426-4851-8B74-54BF17500FD2}" srcOrd="1" destOrd="0" presId="urn:microsoft.com/office/officeart/2005/8/layout/process1"/>
    <dgm:cxn modelId="{1E5B193B-5920-4588-ACAB-9359E918D909}" srcId="{C153890E-BE6B-4371-8A13-FC1972003FAC}" destId="{ECCFF544-E9E7-4E3B-93B4-B33C3CEF08B5}" srcOrd="3" destOrd="0" parTransId="{F912ED11-6A21-4189-B05C-501481D0AA38}" sibTransId="{AC0CB5DC-513A-43F1-9715-13A1256BCA2D}"/>
    <dgm:cxn modelId="{A5095351-97B9-4CB0-A889-A8727EDC251B}" type="presOf" srcId="{C01CC06F-DBCF-4495-A90D-250439EBA126}" destId="{2AFFF8BF-4827-435C-AE17-B8A08BD74856}" srcOrd="0" destOrd="0" presId="urn:microsoft.com/office/officeart/2005/8/layout/process1"/>
    <dgm:cxn modelId="{0172AE86-5324-41B4-9E38-4D81EAE6976E}" type="presOf" srcId="{C153890E-BE6B-4371-8A13-FC1972003FAC}" destId="{B7D89D54-AC2F-47B1-925A-757550C8FB83}" srcOrd="0" destOrd="0" presId="urn:microsoft.com/office/officeart/2005/8/layout/process1"/>
    <dgm:cxn modelId="{FE8CF68B-B4CD-41A3-8BFE-E40FEDA40307}" type="presOf" srcId="{895200AD-0F23-4910-B96D-F780FE90B9DC}" destId="{2001BB89-EEB8-4771-83D5-085CD4D82A71}" srcOrd="1" destOrd="0" presId="urn:microsoft.com/office/officeart/2005/8/layout/process1"/>
    <dgm:cxn modelId="{6991099C-B2D6-4488-BD4D-CC0C32971D92}" srcId="{C153890E-BE6B-4371-8A13-FC1972003FAC}" destId="{C01CC06F-DBCF-4495-A90D-250439EBA126}" srcOrd="1" destOrd="0" parTransId="{C39E2DF9-DAD3-4CC8-B40F-733F5ECE57D8}" sibTransId="{46A80146-22A4-4E2C-884F-80736FB54703}"/>
    <dgm:cxn modelId="{67AA1A9E-85F1-45C5-8BE5-01C00C6B8963}" type="presOf" srcId="{6BD2B288-AA34-4B51-99A2-C4AD918B7A22}" destId="{70B83020-ABC5-424B-8619-B979DEADFB45}" srcOrd="0" destOrd="0" presId="urn:microsoft.com/office/officeart/2005/8/layout/process1"/>
    <dgm:cxn modelId="{4EDD339F-5A58-4C3A-9B70-6470CAD1A45D}" type="presOf" srcId="{46A80146-22A4-4E2C-884F-80736FB54703}" destId="{DAFB7F17-E618-456B-B779-5A5532CDF08F}" srcOrd="1" destOrd="0" presId="urn:microsoft.com/office/officeart/2005/8/layout/process1"/>
    <dgm:cxn modelId="{D1A409A1-0EDD-4CB5-9CF3-512849452696}" type="presOf" srcId="{CED685E1-E30A-4503-BF12-B30DA6B6DED5}" destId="{A18A97AD-3160-4F65-A475-3655C4029448}" srcOrd="0" destOrd="0" presId="urn:microsoft.com/office/officeart/2005/8/layout/process1"/>
    <dgm:cxn modelId="{BAB2A4A6-E342-465E-A04F-A1C714461E37}" type="presOf" srcId="{1CB54FD5-F6DF-4668-8CF7-ED6B95548E57}" destId="{0D29328D-0359-486B-A578-43DE0DB0D997}" srcOrd="0" destOrd="0" presId="urn:microsoft.com/office/officeart/2005/8/layout/process1"/>
    <dgm:cxn modelId="{57F1B2C5-4E6C-4300-8138-4182A780DA96}" type="presOf" srcId="{D0091102-E0EE-47E0-B9FE-B0327B6725BD}" destId="{27FF70AB-E3B3-4179-AE68-AD5AE4435755}" srcOrd="0" destOrd="0" presId="urn:microsoft.com/office/officeart/2005/8/layout/process1"/>
    <dgm:cxn modelId="{AEB5E7CC-AC78-4BD2-B097-8F579F17974A}" type="presOf" srcId="{ECCFF544-E9E7-4E3B-93B4-B33C3CEF08B5}" destId="{E6AEAD7F-3124-48A1-B2A9-9A20C446EC46}" srcOrd="0" destOrd="0" presId="urn:microsoft.com/office/officeart/2005/8/layout/process1"/>
    <dgm:cxn modelId="{84AF00DB-8BCC-4E30-8CB5-D42883037713}" type="presOf" srcId="{46A80146-22A4-4E2C-884F-80736FB54703}" destId="{7602582F-33C9-4B91-B529-1914B2539515}" srcOrd="0" destOrd="0" presId="urn:microsoft.com/office/officeart/2005/8/layout/process1"/>
    <dgm:cxn modelId="{5C0BBFE7-F0BF-47CE-A7C2-9A6100A6EE8B}" srcId="{C153890E-BE6B-4371-8A13-FC1972003FAC}" destId="{1CB54FD5-F6DF-4668-8CF7-ED6B95548E57}" srcOrd="0" destOrd="0" parTransId="{C49DE125-5C08-4458-9EB7-ABEF89DFC557}" sibTransId="{D0091102-E0EE-47E0-B9FE-B0327B6725BD}"/>
    <dgm:cxn modelId="{3ACFF5ED-8704-410B-8708-4677C5834171}" srcId="{C153890E-BE6B-4371-8A13-FC1972003FAC}" destId="{6BD2B288-AA34-4B51-99A2-C4AD918B7A22}" srcOrd="2" destOrd="0" parTransId="{04677043-3616-43CD-AB1A-9DEEAF8F96F1}" sibTransId="{895200AD-0F23-4910-B96D-F780FE90B9DC}"/>
    <dgm:cxn modelId="{559C0DF5-8033-42EC-8363-1D1222564742}" srcId="{C153890E-BE6B-4371-8A13-FC1972003FAC}" destId="{CED685E1-E30A-4503-BF12-B30DA6B6DED5}" srcOrd="4" destOrd="0" parTransId="{CC8325FB-1BB9-4C64-B4A6-BB7C96A91398}" sibTransId="{75FF35C3-8715-4CF9-B12F-A22E336F06A5}"/>
    <dgm:cxn modelId="{FF5883FE-8A3A-43B9-B963-9E0D8A9C14D1}" type="presOf" srcId="{895200AD-0F23-4910-B96D-F780FE90B9DC}" destId="{FEBEDE85-5846-40C4-87DC-EB3D83A80316}" srcOrd="0" destOrd="0" presId="urn:microsoft.com/office/officeart/2005/8/layout/process1"/>
    <dgm:cxn modelId="{DFC83018-556B-441E-B004-0C6D0C7D830F}" type="presParOf" srcId="{B7D89D54-AC2F-47B1-925A-757550C8FB83}" destId="{0D29328D-0359-486B-A578-43DE0DB0D997}" srcOrd="0" destOrd="0" presId="urn:microsoft.com/office/officeart/2005/8/layout/process1"/>
    <dgm:cxn modelId="{0C5E36C3-525B-4BCD-BC3D-645ACFFE1722}" type="presParOf" srcId="{B7D89D54-AC2F-47B1-925A-757550C8FB83}" destId="{27FF70AB-E3B3-4179-AE68-AD5AE4435755}" srcOrd="1" destOrd="0" presId="urn:microsoft.com/office/officeart/2005/8/layout/process1"/>
    <dgm:cxn modelId="{3DB34BB7-2E5C-462D-B7D7-62257133C64A}" type="presParOf" srcId="{27FF70AB-E3B3-4179-AE68-AD5AE4435755}" destId="{3B79C6B2-4D00-4687-9E25-A9CCCB2122D6}" srcOrd="0" destOrd="0" presId="urn:microsoft.com/office/officeart/2005/8/layout/process1"/>
    <dgm:cxn modelId="{295645C3-1E1A-4A11-8D04-13A5B1B3F3CA}" type="presParOf" srcId="{B7D89D54-AC2F-47B1-925A-757550C8FB83}" destId="{2AFFF8BF-4827-435C-AE17-B8A08BD74856}" srcOrd="2" destOrd="0" presId="urn:microsoft.com/office/officeart/2005/8/layout/process1"/>
    <dgm:cxn modelId="{39541CEC-DC2F-4F5A-AD5E-24BD6CF2187D}" type="presParOf" srcId="{B7D89D54-AC2F-47B1-925A-757550C8FB83}" destId="{7602582F-33C9-4B91-B529-1914B2539515}" srcOrd="3" destOrd="0" presId="urn:microsoft.com/office/officeart/2005/8/layout/process1"/>
    <dgm:cxn modelId="{1D705667-D9E3-4FF4-BD91-6C600ECCC95B}" type="presParOf" srcId="{7602582F-33C9-4B91-B529-1914B2539515}" destId="{DAFB7F17-E618-456B-B779-5A5532CDF08F}" srcOrd="0" destOrd="0" presId="urn:microsoft.com/office/officeart/2005/8/layout/process1"/>
    <dgm:cxn modelId="{BD944218-9BEC-4E0E-A3D4-637B803518C9}" type="presParOf" srcId="{B7D89D54-AC2F-47B1-925A-757550C8FB83}" destId="{70B83020-ABC5-424B-8619-B979DEADFB45}" srcOrd="4" destOrd="0" presId="urn:microsoft.com/office/officeart/2005/8/layout/process1"/>
    <dgm:cxn modelId="{3D2BB15B-ACEC-4C9F-955B-7BBD3B04AEFF}" type="presParOf" srcId="{B7D89D54-AC2F-47B1-925A-757550C8FB83}" destId="{FEBEDE85-5846-40C4-87DC-EB3D83A80316}" srcOrd="5" destOrd="0" presId="urn:microsoft.com/office/officeart/2005/8/layout/process1"/>
    <dgm:cxn modelId="{6EE60028-14B3-48EE-A34A-1DDBCE65D3FF}" type="presParOf" srcId="{FEBEDE85-5846-40C4-87DC-EB3D83A80316}" destId="{2001BB89-EEB8-4771-83D5-085CD4D82A71}" srcOrd="0" destOrd="0" presId="urn:microsoft.com/office/officeart/2005/8/layout/process1"/>
    <dgm:cxn modelId="{A3D1A55D-6BA8-4E21-A49D-7B67EBBB6B78}" type="presParOf" srcId="{B7D89D54-AC2F-47B1-925A-757550C8FB83}" destId="{E6AEAD7F-3124-48A1-B2A9-9A20C446EC46}" srcOrd="6" destOrd="0" presId="urn:microsoft.com/office/officeart/2005/8/layout/process1"/>
    <dgm:cxn modelId="{2DF57E30-2CAE-41FC-A66F-C1F1D9B83D54}" type="presParOf" srcId="{B7D89D54-AC2F-47B1-925A-757550C8FB83}" destId="{9CDEAAE7-A725-4725-97BD-B646B973DF04}" srcOrd="7" destOrd="0" presId="urn:microsoft.com/office/officeart/2005/8/layout/process1"/>
    <dgm:cxn modelId="{41A40983-FBCA-465E-93A4-65D35777BFFE}" type="presParOf" srcId="{9CDEAAE7-A725-4725-97BD-B646B973DF04}" destId="{7E5900EA-E426-4851-8B74-54BF17500FD2}" srcOrd="0" destOrd="0" presId="urn:microsoft.com/office/officeart/2005/8/layout/process1"/>
    <dgm:cxn modelId="{E7279620-2FC6-4DCD-BD11-F37DA6367453}" type="presParOf" srcId="{B7D89D54-AC2F-47B1-925A-757550C8FB83}" destId="{A18A97AD-3160-4F65-A475-3655C402944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535D76-B7E2-4712-9CF9-978CF40A4A04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pPr rtl="1"/>
          <a:endParaRPr lang="he-IL"/>
        </a:p>
      </dgm:t>
    </dgm:pt>
    <dgm:pt modelId="{1D42A67E-B168-472B-9C8C-755FF3462233}">
      <dgm:prSet phldrT="[טקסט]"/>
      <dgm:spPr/>
      <dgm:t>
        <a:bodyPr/>
        <a:lstStyle/>
        <a:p>
          <a:pPr rtl="1">
            <a:buNone/>
          </a:pPr>
          <a:r>
            <a:rPr lang="he-IL" err="1"/>
            <a:t>Real</a:t>
          </a:r>
          <a:r>
            <a:rPr lang="he-IL"/>
            <a:t> </a:t>
          </a:r>
          <a:r>
            <a:rPr lang="he-IL" err="1"/>
            <a:t>Experience</a:t>
          </a:r>
          <a:endParaRPr lang="he-IL"/>
        </a:p>
      </dgm:t>
    </dgm:pt>
    <dgm:pt modelId="{21114381-2956-4D50-9FF1-F520B0080C9E}" type="parTrans" cxnId="{B8909100-43CE-4F41-800A-965FA6C1F39C}">
      <dgm:prSet/>
      <dgm:spPr/>
      <dgm:t>
        <a:bodyPr/>
        <a:lstStyle/>
        <a:p>
          <a:pPr rtl="1"/>
          <a:endParaRPr lang="he-IL"/>
        </a:p>
      </dgm:t>
    </dgm:pt>
    <dgm:pt modelId="{241CAE25-DCCB-41C5-888E-79DF94E8AE3D}" type="sibTrans" cxnId="{B8909100-43CE-4F41-800A-965FA6C1F39C}">
      <dgm:prSet/>
      <dgm:spPr/>
      <dgm:t>
        <a:bodyPr/>
        <a:lstStyle/>
        <a:p>
          <a:pPr rtl="1"/>
          <a:endParaRPr lang="he-IL"/>
        </a:p>
      </dgm:t>
    </dgm:pt>
    <dgm:pt modelId="{9B58EE99-F41B-44E4-B579-BA9E553C8BD8}">
      <dgm:prSet phldrT="[טקסט]"/>
      <dgm:spPr/>
      <dgm:t>
        <a:bodyPr/>
        <a:lstStyle/>
        <a:p>
          <a:pPr rtl="1">
            <a:buNone/>
          </a:pPr>
          <a:r>
            <a:rPr lang="he-IL" err="1"/>
            <a:t>Model</a:t>
          </a:r>
          <a:endParaRPr lang="he-IL"/>
        </a:p>
      </dgm:t>
    </dgm:pt>
    <dgm:pt modelId="{D42DB000-1527-4E6A-B19A-80AC66A222A3}" type="parTrans" cxnId="{797993E1-85D1-4E90-8640-2A79E3E0C607}">
      <dgm:prSet/>
      <dgm:spPr/>
      <dgm:t>
        <a:bodyPr/>
        <a:lstStyle/>
        <a:p>
          <a:pPr rtl="1"/>
          <a:endParaRPr lang="he-IL"/>
        </a:p>
      </dgm:t>
    </dgm:pt>
    <dgm:pt modelId="{94CF87CC-5A79-42D8-A74C-88935049B296}" type="sibTrans" cxnId="{797993E1-85D1-4E90-8640-2A79E3E0C607}">
      <dgm:prSet/>
      <dgm:spPr/>
      <dgm:t>
        <a:bodyPr/>
        <a:lstStyle/>
        <a:p>
          <a:pPr rtl="1"/>
          <a:endParaRPr lang="he-IL"/>
        </a:p>
      </dgm:t>
    </dgm:pt>
    <dgm:pt modelId="{179B7161-4501-46D8-B6FB-E55C638AA1CE}">
      <dgm:prSet phldrT="[טקסט]"/>
      <dgm:spPr/>
      <dgm:t>
        <a:bodyPr/>
        <a:lstStyle/>
        <a:p>
          <a:pPr rtl="1">
            <a:buNone/>
          </a:pPr>
          <a:r>
            <a:rPr lang="he-IL" err="1"/>
            <a:t>Planning</a:t>
          </a:r>
          <a:r>
            <a:rPr lang="he-IL"/>
            <a:t> </a:t>
          </a:r>
          <a:r>
            <a:rPr lang="he-IL" err="1"/>
            <a:t>Updates</a:t>
          </a:r>
          <a:endParaRPr lang="he-IL"/>
        </a:p>
      </dgm:t>
    </dgm:pt>
    <dgm:pt modelId="{66547CE5-D734-4881-A413-045E48EBAE07}" type="parTrans" cxnId="{E84D984A-4FEE-4516-A783-70A0B14E3380}">
      <dgm:prSet/>
      <dgm:spPr/>
      <dgm:t>
        <a:bodyPr/>
        <a:lstStyle/>
        <a:p>
          <a:pPr rtl="1"/>
          <a:endParaRPr lang="he-IL"/>
        </a:p>
      </dgm:t>
    </dgm:pt>
    <dgm:pt modelId="{C35480C1-13D4-4D0E-AB5F-514AE9029C84}" type="sibTrans" cxnId="{E84D984A-4FEE-4516-A783-70A0B14E3380}">
      <dgm:prSet/>
      <dgm:spPr/>
      <dgm:t>
        <a:bodyPr/>
        <a:lstStyle/>
        <a:p>
          <a:pPr rtl="1"/>
          <a:endParaRPr lang="he-IL"/>
        </a:p>
      </dgm:t>
    </dgm:pt>
    <dgm:pt modelId="{040B5792-E628-4C93-9D49-58D7C14C99AE}">
      <dgm:prSet phldrT="[טקסט]"/>
      <dgm:spPr/>
      <dgm:t>
        <a:bodyPr/>
        <a:lstStyle/>
        <a:p>
          <a:pPr rtl="1">
            <a:buNone/>
          </a:pPr>
          <a:r>
            <a:rPr lang="he-IL" err="1"/>
            <a:t>Priority</a:t>
          </a:r>
          <a:r>
            <a:rPr lang="he-IL"/>
            <a:t> </a:t>
          </a:r>
          <a:r>
            <a:rPr lang="he-IL" err="1"/>
            <a:t>Queue</a:t>
          </a:r>
          <a:endParaRPr lang="he-IL"/>
        </a:p>
      </dgm:t>
    </dgm:pt>
    <dgm:pt modelId="{9B622954-6730-4CF6-B6DF-00ED2C4CD450}" type="parTrans" cxnId="{8EBA9A2D-20F3-4441-9CF6-7108412FBDBA}">
      <dgm:prSet/>
      <dgm:spPr/>
      <dgm:t>
        <a:bodyPr/>
        <a:lstStyle/>
        <a:p>
          <a:pPr rtl="1"/>
          <a:endParaRPr lang="he-IL"/>
        </a:p>
      </dgm:t>
    </dgm:pt>
    <dgm:pt modelId="{5873D226-7FDC-4EE9-8CA7-5EFA4719C2B3}" type="sibTrans" cxnId="{8EBA9A2D-20F3-4441-9CF6-7108412FBDBA}">
      <dgm:prSet/>
      <dgm:spPr/>
      <dgm:t>
        <a:bodyPr/>
        <a:lstStyle/>
        <a:p>
          <a:pPr rtl="1"/>
          <a:endParaRPr lang="he-IL"/>
        </a:p>
      </dgm:t>
    </dgm:pt>
    <dgm:pt modelId="{C6747D47-053C-4652-8C1A-F63C720931D6}" type="pres">
      <dgm:prSet presAssocID="{8E535D76-B7E2-4712-9CF9-978CF40A4A04}" presName="outerComposite" presStyleCnt="0">
        <dgm:presLayoutVars>
          <dgm:chMax val="5"/>
          <dgm:dir/>
          <dgm:resizeHandles val="exact"/>
        </dgm:presLayoutVars>
      </dgm:prSet>
      <dgm:spPr/>
    </dgm:pt>
    <dgm:pt modelId="{B3FAC35B-3CE0-4A4B-9699-3D9070BC99FF}" type="pres">
      <dgm:prSet presAssocID="{8E535D76-B7E2-4712-9CF9-978CF40A4A04}" presName="dummyMaxCanvas" presStyleCnt="0">
        <dgm:presLayoutVars/>
      </dgm:prSet>
      <dgm:spPr/>
    </dgm:pt>
    <dgm:pt modelId="{84C98BFA-2E87-4AFA-918A-33F1C8738D8E}" type="pres">
      <dgm:prSet presAssocID="{8E535D76-B7E2-4712-9CF9-978CF40A4A04}" presName="FourNodes_1" presStyleLbl="node1" presStyleIdx="0" presStyleCnt="4">
        <dgm:presLayoutVars>
          <dgm:bulletEnabled val="1"/>
        </dgm:presLayoutVars>
      </dgm:prSet>
      <dgm:spPr/>
    </dgm:pt>
    <dgm:pt modelId="{217805D7-61E4-4453-AD9F-89D99A6928EB}" type="pres">
      <dgm:prSet presAssocID="{8E535D76-B7E2-4712-9CF9-978CF40A4A04}" presName="FourNodes_2" presStyleLbl="node1" presStyleIdx="1" presStyleCnt="4">
        <dgm:presLayoutVars>
          <dgm:bulletEnabled val="1"/>
        </dgm:presLayoutVars>
      </dgm:prSet>
      <dgm:spPr/>
    </dgm:pt>
    <dgm:pt modelId="{BDEB6590-6A76-467F-BF2A-99518C6D8A50}" type="pres">
      <dgm:prSet presAssocID="{8E535D76-B7E2-4712-9CF9-978CF40A4A04}" presName="FourNodes_3" presStyleLbl="node1" presStyleIdx="2" presStyleCnt="4">
        <dgm:presLayoutVars>
          <dgm:bulletEnabled val="1"/>
        </dgm:presLayoutVars>
      </dgm:prSet>
      <dgm:spPr/>
    </dgm:pt>
    <dgm:pt modelId="{FC1ED764-D7A1-4975-BBB8-262E638C1743}" type="pres">
      <dgm:prSet presAssocID="{8E535D76-B7E2-4712-9CF9-978CF40A4A04}" presName="FourNodes_4" presStyleLbl="node1" presStyleIdx="3" presStyleCnt="4">
        <dgm:presLayoutVars>
          <dgm:bulletEnabled val="1"/>
        </dgm:presLayoutVars>
      </dgm:prSet>
      <dgm:spPr/>
    </dgm:pt>
    <dgm:pt modelId="{F96B72FC-37F9-421A-B6E8-61F7EC4893CF}" type="pres">
      <dgm:prSet presAssocID="{8E535D76-B7E2-4712-9CF9-978CF40A4A04}" presName="FourConn_1-2" presStyleLbl="fgAccFollowNode1" presStyleIdx="0" presStyleCnt="3">
        <dgm:presLayoutVars>
          <dgm:bulletEnabled val="1"/>
        </dgm:presLayoutVars>
      </dgm:prSet>
      <dgm:spPr/>
    </dgm:pt>
    <dgm:pt modelId="{CB6E69C6-CBFA-4E5C-851C-DC5B65BEF5F7}" type="pres">
      <dgm:prSet presAssocID="{8E535D76-B7E2-4712-9CF9-978CF40A4A04}" presName="FourConn_2-3" presStyleLbl="fgAccFollowNode1" presStyleIdx="1" presStyleCnt="3">
        <dgm:presLayoutVars>
          <dgm:bulletEnabled val="1"/>
        </dgm:presLayoutVars>
      </dgm:prSet>
      <dgm:spPr/>
    </dgm:pt>
    <dgm:pt modelId="{B1173950-63FC-466C-91C6-3B85CC124173}" type="pres">
      <dgm:prSet presAssocID="{8E535D76-B7E2-4712-9CF9-978CF40A4A04}" presName="FourConn_3-4" presStyleLbl="fgAccFollowNode1" presStyleIdx="2" presStyleCnt="3">
        <dgm:presLayoutVars>
          <dgm:bulletEnabled val="1"/>
        </dgm:presLayoutVars>
      </dgm:prSet>
      <dgm:spPr/>
    </dgm:pt>
    <dgm:pt modelId="{E1E6155C-295D-4B6C-A5AE-68534767F7AD}" type="pres">
      <dgm:prSet presAssocID="{8E535D76-B7E2-4712-9CF9-978CF40A4A04}" presName="FourNodes_1_text" presStyleLbl="node1" presStyleIdx="3" presStyleCnt="4">
        <dgm:presLayoutVars>
          <dgm:bulletEnabled val="1"/>
        </dgm:presLayoutVars>
      </dgm:prSet>
      <dgm:spPr/>
    </dgm:pt>
    <dgm:pt modelId="{CB8F36E7-552C-4533-B428-933650FE25BA}" type="pres">
      <dgm:prSet presAssocID="{8E535D76-B7E2-4712-9CF9-978CF40A4A04}" presName="FourNodes_2_text" presStyleLbl="node1" presStyleIdx="3" presStyleCnt="4">
        <dgm:presLayoutVars>
          <dgm:bulletEnabled val="1"/>
        </dgm:presLayoutVars>
      </dgm:prSet>
      <dgm:spPr/>
    </dgm:pt>
    <dgm:pt modelId="{56C10AB9-B71D-46EF-870B-0360616D8984}" type="pres">
      <dgm:prSet presAssocID="{8E535D76-B7E2-4712-9CF9-978CF40A4A04}" presName="FourNodes_3_text" presStyleLbl="node1" presStyleIdx="3" presStyleCnt="4">
        <dgm:presLayoutVars>
          <dgm:bulletEnabled val="1"/>
        </dgm:presLayoutVars>
      </dgm:prSet>
      <dgm:spPr/>
    </dgm:pt>
    <dgm:pt modelId="{9CAA4AB9-1F1C-4943-AAB9-D7FD243291F4}" type="pres">
      <dgm:prSet presAssocID="{8E535D76-B7E2-4712-9CF9-978CF40A4A0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8909100-43CE-4F41-800A-965FA6C1F39C}" srcId="{8E535D76-B7E2-4712-9CF9-978CF40A4A04}" destId="{1D42A67E-B168-472B-9C8C-755FF3462233}" srcOrd="0" destOrd="0" parTransId="{21114381-2956-4D50-9FF1-F520B0080C9E}" sibTransId="{241CAE25-DCCB-41C5-888E-79DF94E8AE3D}"/>
    <dgm:cxn modelId="{3DF93C07-861A-410A-89DD-6B58C413DA73}" type="presOf" srcId="{241CAE25-DCCB-41C5-888E-79DF94E8AE3D}" destId="{F96B72FC-37F9-421A-B6E8-61F7EC4893CF}" srcOrd="0" destOrd="0" presId="urn:microsoft.com/office/officeart/2005/8/layout/vProcess5"/>
    <dgm:cxn modelId="{00CF3319-BB59-4283-B4F1-715E378ABDC4}" type="presOf" srcId="{5873D226-7FDC-4EE9-8CA7-5EFA4719C2B3}" destId="{B1173950-63FC-466C-91C6-3B85CC124173}" srcOrd="0" destOrd="0" presId="urn:microsoft.com/office/officeart/2005/8/layout/vProcess5"/>
    <dgm:cxn modelId="{8EBA9A2D-20F3-4441-9CF6-7108412FBDBA}" srcId="{8E535D76-B7E2-4712-9CF9-978CF40A4A04}" destId="{040B5792-E628-4C93-9D49-58D7C14C99AE}" srcOrd="2" destOrd="0" parTransId="{9B622954-6730-4CF6-B6DF-00ED2C4CD450}" sibTransId="{5873D226-7FDC-4EE9-8CA7-5EFA4719C2B3}"/>
    <dgm:cxn modelId="{5ABF3D37-ABB0-4B5D-A5C0-95B6AE295485}" type="presOf" srcId="{94CF87CC-5A79-42D8-A74C-88935049B296}" destId="{CB6E69C6-CBFA-4E5C-851C-DC5B65BEF5F7}" srcOrd="0" destOrd="0" presId="urn:microsoft.com/office/officeart/2005/8/layout/vProcess5"/>
    <dgm:cxn modelId="{6F241866-E4B0-4CC9-B5F6-E4224C7B2BD1}" type="presOf" srcId="{179B7161-4501-46D8-B6FB-E55C638AA1CE}" destId="{FC1ED764-D7A1-4975-BBB8-262E638C1743}" srcOrd="0" destOrd="0" presId="urn:microsoft.com/office/officeart/2005/8/layout/vProcess5"/>
    <dgm:cxn modelId="{E84D984A-4FEE-4516-A783-70A0B14E3380}" srcId="{8E535D76-B7E2-4712-9CF9-978CF40A4A04}" destId="{179B7161-4501-46D8-B6FB-E55C638AA1CE}" srcOrd="3" destOrd="0" parTransId="{66547CE5-D734-4881-A413-045E48EBAE07}" sibTransId="{C35480C1-13D4-4D0E-AB5F-514AE9029C84}"/>
    <dgm:cxn modelId="{26E9F054-1A45-4985-A39F-3D3F2345F473}" type="presOf" srcId="{040B5792-E628-4C93-9D49-58D7C14C99AE}" destId="{BDEB6590-6A76-467F-BF2A-99518C6D8A50}" srcOrd="0" destOrd="0" presId="urn:microsoft.com/office/officeart/2005/8/layout/vProcess5"/>
    <dgm:cxn modelId="{DC0D8F75-613E-4444-9326-61787429AC05}" type="presOf" srcId="{8E535D76-B7E2-4712-9CF9-978CF40A4A04}" destId="{C6747D47-053C-4652-8C1A-F63C720931D6}" srcOrd="0" destOrd="0" presId="urn:microsoft.com/office/officeart/2005/8/layout/vProcess5"/>
    <dgm:cxn modelId="{011541A4-E17A-466A-8E76-1F28809F0525}" type="presOf" srcId="{9B58EE99-F41B-44E4-B579-BA9E553C8BD8}" destId="{217805D7-61E4-4453-AD9F-89D99A6928EB}" srcOrd="0" destOrd="0" presId="urn:microsoft.com/office/officeart/2005/8/layout/vProcess5"/>
    <dgm:cxn modelId="{A9B57CB1-9232-4935-B455-B23DCF9EB4B1}" type="presOf" srcId="{179B7161-4501-46D8-B6FB-E55C638AA1CE}" destId="{9CAA4AB9-1F1C-4943-AAB9-D7FD243291F4}" srcOrd="1" destOrd="0" presId="urn:microsoft.com/office/officeart/2005/8/layout/vProcess5"/>
    <dgm:cxn modelId="{6FEB5BBB-55FF-4971-A625-75A99681DA65}" type="presOf" srcId="{1D42A67E-B168-472B-9C8C-755FF3462233}" destId="{E1E6155C-295D-4B6C-A5AE-68534767F7AD}" srcOrd="1" destOrd="0" presId="urn:microsoft.com/office/officeart/2005/8/layout/vProcess5"/>
    <dgm:cxn modelId="{BE5BB5C8-E702-4989-9572-4E798DF39315}" type="presOf" srcId="{040B5792-E628-4C93-9D49-58D7C14C99AE}" destId="{56C10AB9-B71D-46EF-870B-0360616D8984}" srcOrd="1" destOrd="0" presId="urn:microsoft.com/office/officeart/2005/8/layout/vProcess5"/>
    <dgm:cxn modelId="{797993E1-85D1-4E90-8640-2A79E3E0C607}" srcId="{8E535D76-B7E2-4712-9CF9-978CF40A4A04}" destId="{9B58EE99-F41B-44E4-B579-BA9E553C8BD8}" srcOrd="1" destOrd="0" parTransId="{D42DB000-1527-4E6A-B19A-80AC66A222A3}" sibTransId="{94CF87CC-5A79-42D8-A74C-88935049B296}"/>
    <dgm:cxn modelId="{2B4943E2-F788-4BB5-8A5A-87B2BBD8B3F0}" type="presOf" srcId="{9B58EE99-F41B-44E4-B579-BA9E553C8BD8}" destId="{CB8F36E7-552C-4533-B428-933650FE25BA}" srcOrd="1" destOrd="0" presId="urn:microsoft.com/office/officeart/2005/8/layout/vProcess5"/>
    <dgm:cxn modelId="{B69B72FD-D209-47E1-99D9-A5DDB0575A23}" type="presOf" srcId="{1D42A67E-B168-472B-9C8C-755FF3462233}" destId="{84C98BFA-2E87-4AFA-918A-33F1C8738D8E}" srcOrd="0" destOrd="0" presId="urn:microsoft.com/office/officeart/2005/8/layout/vProcess5"/>
    <dgm:cxn modelId="{E1379C57-F35D-47C2-9582-110DF9CBFCA4}" type="presParOf" srcId="{C6747D47-053C-4652-8C1A-F63C720931D6}" destId="{B3FAC35B-3CE0-4A4B-9699-3D9070BC99FF}" srcOrd="0" destOrd="0" presId="urn:microsoft.com/office/officeart/2005/8/layout/vProcess5"/>
    <dgm:cxn modelId="{81A8E3D0-9458-464B-81DB-542CD13EDD44}" type="presParOf" srcId="{C6747D47-053C-4652-8C1A-F63C720931D6}" destId="{84C98BFA-2E87-4AFA-918A-33F1C8738D8E}" srcOrd="1" destOrd="0" presId="urn:microsoft.com/office/officeart/2005/8/layout/vProcess5"/>
    <dgm:cxn modelId="{EC9E67F4-9541-41F1-8A7B-3607BD632632}" type="presParOf" srcId="{C6747D47-053C-4652-8C1A-F63C720931D6}" destId="{217805D7-61E4-4453-AD9F-89D99A6928EB}" srcOrd="2" destOrd="0" presId="urn:microsoft.com/office/officeart/2005/8/layout/vProcess5"/>
    <dgm:cxn modelId="{82FF50D4-4F62-4934-92F3-E8B390810516}" type="presParOf" srcId="{C6747D47-053C-4652-8C1A-F63C720931D6}" destId="{BDEB6590-6A76-467F-BF2A-99518C6D8A50}" srcOrd="3" destOrd="0" presId="urn:microsoft.com/office/officeart/2005/8/layout/vProcess5"/>
    <dgm:cxn modelId="{AB6C6E5D-8702-4062-879E-1E7E8227843F}" type="presParOf" srcId="{C6747D47-053C-4652-8C1A-F63C720931D6}" destId="{FC1ED764-D7A1-4975-BBB8-262E638C1743}" srcOrd="4" destOrd="0" presId="urn:microsoft.com/office/officeart/2005/8/layout/vProcess5"/>
    <dgm:cxn modelId="{3FCAC065-2835-413B-87F7-5B86250EBFEA}" type="presParOf" srcId="{C6747D47-053C-4652-8C1A-F63C720931D6}" destId="{F96B72FC-37F9-421A-B6E8-61F7EC4893CF}" srcOrd="5" destOrd="0" presId="urn:microsoft.com/office/officeart/2005/8/layout/vProcess5"/>
    <dgm:cxn modelId="{9F3F0913-B74C-4A71-B2C3-56215F70DCFC}" type="presParOf" srcId="{C6747D47-053C-4652-8C1A-F63C720931D6}" destId="{CB6E69C6-CBFA-4E5C-851C-DC5B65BEF5F7}" srcOrd="6" destOrd="0" presId="urn:microsoft.com/office/officeart/2005/8/layout/vProcess5"/>
    <dgm:cxn modelId="{C4CBD621-496D-4377-A206-0713F8A686E2}" type="presParOf" srcId="{C6747D47-053C-4652-8C1A-F63C720931D6}" destId="{B1173950-63FC-466C-91C6-3B85CC124173}" srcOrd="7" destOrd="0" presId="urn:microsoft.com/office/officeart/2005/8/layout/vProcess5"/>
    <dgm:cxn modelId="{C2C76489-05A6-42D3-91B9-331A0A135698}" type="presParOf" srcId="{C6747D47-053C-4652-8C1A-F63C720931D6}" destId="{E1E6155C-295D-4B6C-A5AE-68534767F7AD}" srcOrd="8" destOrd="0" presId="urn:microsoft.com/office/officeart/2005/8/layout/vProcess5"/>
    <dgm:cxn modelId="{69DA2984-6D36-4002-A74D-15CD50F2F841}" type="presParOf" srcId="{C6747D47-053C-4652-8C1A-F63C720931D6}" destId="{CB8F36E7-552C-4533-B428-933650FE25BA}" srcOrd="9" destOrd="0" presId="urn:microsoft.com/office/officeart/2005/8/layout/vProcess5"/>
    <dgm:cxn modelId="{2DF44B95-0FD8-48D3-BC9C-E1D82E6CFD9D}" type="presParOf" srcId="{C6747D47-053C-4652-8C1A-F63C720931D6}" destId="{56C10AB9-B71D-46EF-870B-0360616D8984}" srcOrd="10" destOrd="0" presId="urn:microsoft.com/office/officeart/2005/8/layout/vProcess5"/>
    <dgm:cxn modelId="{52845B48-C350-48A0-A04C-887146C45330}" type="presParOf" srcId="{C6747D47-053C-4652-8C1A-F63C720931D6}" destId="{9CAA4AB9-1F1C-4943-AAB9-D7FD243291F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9328D-0359-486B-A578-43DE0DB0D997}">
      <dsp:nvSpPr>
        <dsp:cNvPr id="0" name=""/>
        <dsp:cNvSpPr/>
      </dsp:nvSpPr>
      <dsp:spPr>
        <a:xfrm>
          <a:off x="3291" y="214221"/>
          <a:ext cx="1020280" cy="6982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err="1"/>
            <a:t>State</a:t>
          </a:r>
          <a:r>
            <a:rPr lang="he-IL" sz="1800" kern="1200"/>
            <a:t> </a:t>
          </a:r>
        </a:p>
      </dsp:txBody>
      <dsp:txXfrm>
        <a:off x="23742" y="234672"/>
        <a:ext cx="979378" cy="657352"/>
      </dsp:txXfrm>
    </dsp:sp>
    <dsp:sp modelId="{27FF70AB-E3B3-4179-AE68-AD5AE4435755}">
      <dsp:nvSpPr>
        <dsp:cNvPr id="0" name=""/>
        <dsp:cNvSpPr/>
      </dsp:nvSpPr>
      <dsp:spPr>
        <a:xfrm>
          <a:off x="1125599" y="436834"/>
          <a:ext cx="216299" cy="25302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100" kern="1200"/>
        </a:p>
      </dsp:txBody>
      <dsp:txXfrm>
        <a:off x="1125599" y="487440"/>
        <a:ext cx="151409" cy="151817"/>
      </dsp:txXfrm>
    </dsp:sp>
    <dsp:sp modelId="{2AFFF8BF-4827-435C-AE17-B8A08BD74856}">
      <dsp:nvSpPr>
        <dsp:cNvPr id="0" name=""/>
        <dsp:cNvSpPr/>
      </dsp:nvSpPr>
      <dsp:spPr>
        <a:xfrm>
          <a:off x="1431684" y="214221"/>
          <a:ext cx="1020280" cy="6982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err="1"/>
            <a:t>Action</a:t>
          </a:r>
          <a:r>
            <a:rPr lang="he-IL" sz="1800" kern="1200"/>
            <a:t> </a:t>
          </a:r>
        </a:p>
      </dsp:txBody>
      <dsp:txXfrm>
        <a:off x="1452135" y="234672"/>
        <a:ext cx="979378" cy="657352"/>
      </dsp:txXfrm>
    </dsp:sp>
    <dsp:sp modelId="{7602582F-33C9-4B91-B529-1914B2539515}">
      <dsp:nvSpPr>
        <dsp:cNvPr id="0" name=""/>
        <dsp:cNvSpPr/>
      </dsp:nvSpPr>
      <dsp:spPr>
        <a:xfrm>
          <a:off x="2553992" y="436834"/>
          <a:ext cx="216299" cy="25302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100" kern="1200"/>
        </a:p>
      </dsp:txBody>
      <dsp:txXfrm>
        <a:off x="2553992" y="487440"/>
        <a:ext cx="151409" cy="151817"/>
      </dsp:txXfrm>
    </dsp:sp>
    <dsp:sp modelId="{70B83020-ABC5-424B-8619-B979DEADFB45}">
      <dsp:nvSpPr>
        <dsp:cNvPr id="0" name=""/>
        <dsp:cNvSpPr/>
      </dsp:nvSpPr>
      <dsp:spPr>
        <a:xfrm>
          <a:off x="2860077" y="214221"/>
          <a:ext cx="1020280" cy="6982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err="1"/>
            <a:t>Reward</a:t>
          </a:r>
          <a:r>
            <a:rPr lang="he-IL" sz="1800" kern="1200"/>
            <a:t> </a:t>
          </a:r>
        </a:p>
      </dsp:txBody>
      <dsp:txXfrm>
        <a:off x="2880528" y="234672"/>
        <a:ext cx="979378" cy="657352"/>
      </dsp:txXfrm>
    </dsp:sp>
    <dsp:sp modelId="{FEBEDE85-5846-40C4-87DC-EB3D83A80316}">
      <dsp:nvSpPr>
        <dsp:cNvPr id="0" name=""/>
        <dsp:cNvSpPr/>
      </dsp:nvSpPr>
      <dsp:spPr>
        <a:xfrm>
          <a:off x="3982385" y="436834"/>
          <a:ext cx="216299" cy="25302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100" kern="1200"/>
        </a:p>
      </dsp:txBody>
      <dsp:txXfrm>
        <a:off x="3982385" y="487440"/>
        <a:ext cx="151409" cy="151817"/>
      </dsp:txXfrm>
    </dsp:sp>
    <dsp:sp modelId="{E6AEAD7F-3124-48A1-B2A9-9A20C446EC46}">
      <dsp:nvSpPr>
        <dsp:cNvPr id="0" name=""/>
        <dsp:cNvSpPr/>
      </dsp:nvSpPr>
      <dsp:spPr>
        <a:xfrm>
          <a:off x="4288470" y="214221"/>
          <a:ext cx="1020280" cy="6982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err="1"/>
            <a:t>Next</a:t>
          </a:r>
          <a:r>
            <a:rPr lang="he-IL" sz="1800" kern="1200"/>
            <a:t> </a:t>
          </a:r>
          <a:r>
            <a:rPr lang="he-IL" sz="1800" kern="1200" err="1"/>
            <a:t>State</a:t>
          </a:r>
          <a:endParaRPr lang="he-IL" sz="1800" kern="1200"/>
        </a:p>
      </dsp:txBody>
      <dsp:txXfrm>
        <a:off x="4308921" y="234672"/>
        <a:ext cx="979378" cy="657352"/>
      </dsp:txXfrm>
    </dsp:sp>
    <dsp:sp modelId="{9CDEAAE7-A725-4725-97BD-B646B973DF04}">
      <dsp:nvSpPr>
        <dsp:cNvPr id="0" name=""/>
        <dsp:cNvSpPr/>
      </dsp:nvSpPr>
      <dsp:spPr>
        <a:xfrm>
          <a:off x="5410778" y="436834"/>
          <a:ext cx="216299" cy="25302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100" kern="1200"/>
        </a:p>
      </dsp:txBody>
      <dsp:txXfrm>
        <a:off x="5410778" y="487440"/>
        <a:ext cx="151409" cy="151817"/>
      </dsp:txXfrm>
    </dsp:sp>
    <dsp:sp modelId="{A18A97AD-3160-4F65-A475-3655C4029448}">
      <dsp:nvSpPr>
        <dsp:cNvPr id="0" name=""/>
        <dsp:cNvSpPr/>
      </dsp:nvSpPr>
      <dsp:spPr>
        <a:xfrm>
          <a:off x="5716863" y="214221"/>
          <a:ext cx="1020280" cy="6982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 err="1"/>
            <a:t>Next</a:t>
          </a:r>
          <a:r>
            <a:rPr lang="he-IL" sz="1800" kern="1200"/>
            <a:t> </a:t>
          </a:r>
          <a:r>
            <a:rPr lang="he-IL" sz="1800" kern="1200" err="1"/>
            <a:t>Action</a:t>
          </a:r>
          <a:endParaRPr lang="he-IL" sz="1800" kern="1200"/>
        </a:p>
      </dsp:txBody>
      <dsp:txXfrm>
        <a:off x="5737314" y="234672"/>
        <a:ext cx="979378" cy="6573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98BFA-2E87-4AFA-918A-33F1C8738D8E}">
      <dsp:nvSpPr>
        <dsp:cNvPr id="0" name=""/>
        <dsp:cNvSpPr/>
      </dsp:nvSpPr>
      <dsp:spPr>
        <a:xfrm>
          <a:off x="0" y="0"/>
          <a:ext cx="3126376" cy="5598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err="1"/>
            <a:t>Real</a:t>
          </a:r>
          <a:r>
            <a:rPr lang="he-IL" sz="2400" kern="1200"/>
            <a:t> </a:t>
          </a:r>
          <a:r>
            <a:rPr lang="he-IL" sz="2400" kern="1200" err="1"/>
            <a:t>Experience</a:t>
          </a:r>
          <a:endParaRPr lang="he-IL" sz="2400" kern="1200"/>
        </a:p>
      </dsp:txBody>
      <dsp:txXfrm>
        <a:off x="16398" y="16398"/>
        <a:ext cx="2474937" cy="527061"/>
      </dsp:txXfrm>
    </dsp:sp>
    <dsp:sp modelId="{217805D7-61E4-4453-AD9F-89D99A6928EB}">
      <dsp:nvSpPr>
        <dsp:cNvPr id="0" name=""/>
        <dsp:cNvSpPr/>
      </dsp:nvSpPr>
      <dsp:spPr>
        <a:xfrm>
          <a:off x="261833" y="661649"/>
          <a:ext cx="3126376" cy="5598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err="1"/>
            <a:t>Model</a:t>
          </a:r>
          <a:endParaRPr lang="he-IL" sz="2400" kern="1200"/>
        </a:p>
      </dsp:txBody>
      <dsp:txXfrm>
        <a:off x="278231" y="678047"/>
        <a:ext cx="2467838" cy="527061"/>
      </dsp:txXfrm>
    </dsp:sp>
    <dsp:sp modelId="{BDEB6590-6A76-467F-BF2A-99518C6D8A50}">
      <dsp:nvSpPr>
        <dsp:cNvPr id="0" name=""/>
        <dsp:cNvSpPr/>
      </dsp:nvSpPr>
      <dsp:spPr>
        <a:xfrm>
          <a:off x="519760" y="1323299"/>
          <a:ext cx="3126376" cy="5598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err="1"/>
            <a:t>Priority</a:t>
          </a:r>
          <a:r>
            <a:rPr lang="he-IL" sz="2400" kern="1200"/>
            <a:t> </a:t>
          </a:r>
          <a:r>
            <a:rPr lang="he-IL" sz="2400" kern="1200" err="1"/>
            <a:t>Queue</a:t>
          </a:r>
          <a:endParaRPr lang="he-IL" sz="2400" kern="1200"/>
        </a:p>
      </dsp:txBody>
      <dsp:txXfrm>
        <a:off x="536158" y="1339697"/>
        <a:ext cx="2471746" cy="527061"/>
      </dsp:txXfrm>
    </dsp:sp>
    <dsp:sp modelId="{FC1ED764-D7A1-4975-BBB8-262E638C1743}">
      <dsp:nvSpPr>
        <dsp:cNvPr id="0" name=""/>
        <dsp:cNvSpPr/>
      </dsp:nvSpPr>
      <dsp:spPr>
        <a:xfrm>
          <a:off x="781593" y="1984949"/>
          <a:ext cx="3126376" cy="5598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err="1"/>
            <a:t>Planning</a:t>
          </a:r>
          <a:r>
            <a:rPr lang="he-IL" sz="2400" kern="1200"/>
            <a:t> </a:t>
          </a:r>
          <a:r>
            <a:rPr lang="he-IL" sz="2400" kern="1200" err="1"/>
            <a:t>Updates</a:t>
          </a:r>
          <a:endParaRPr lang="he-IL" sz="2400" kern="1200"/>
        </a:p>
      </dsp:txBody>
      <dsp:txXfrm>
        <a:off x="797991" y="2001347"/>
        <a:ext cx="2467838" cy="527061"/>
      </dsp:txXfrm>
    </dsp:sp>
    <dsp:sp modelId="{F96B72FC-37F9-421A-B6E8-61F7EC4893CF}">
      <dsp:nvSpPr>
        <dsp:cNvPr id="0" name=""/>
        <dsp:cNvSpPr/>
      </dsp:nvSpPr>
      <dsp:spPr>
        <a:xfrm>
          <a:off x="2762468" y="428799"/>
          <a:ext cx="363907" cy="36390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700" kern="1200"/>
        </a:p>
      </dsp:txBody>
      <dsp:txXfrm>
        <a:off x="2844347" y="428799"/>
        <a:ext cx="200149" cy="273840"/>
      </dsp:txXfrm>
    </dsp:sp>
    <dsp:sp modelId="{CB6E69C6-CBFA-4E5C-851C-DC5B65BEF5F7}">
      <dsp:nvSpPr>
        <dsp:cNvPr id="0" name=""/>
        <dsp:cNvSpPr/>
      </dsp:nvSpPr>
      <dsp:spPr>
        <a:xfrm>
          <a:off x="3024302" y="1090449"/>
          <a:ext cx="363907" cy="36390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700" kern="1200"/>
        </a:p>
      </dsp:txBody>
      <dsp:txXfrm>
        <a:off x="3106181" y="1090449"/>
        <a:ext cx="200149" cy="273840"/>
      </dsp:txXfrm>
    </dsp:sp>
    <dsp:sp modelId="{B1173950-63FC-466C-91C6-3B85CC124173}">
      <dsp:nvSpPr>
        <dsp:cNvPr id="0" name=""/>
        <dsp:cNvSpPr/>
      </dsp:nvSpPr>
      <dsp:spPr>
        <a:xfrm>
          <a:off x="3282228" y="1752099"/>
          <a:ext cx="363907" cy="36390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1700" kern="1200"/>
        </a:p>
      </dsp:txBody>
      <dsp:txXfrm>
        <a:off x="3364107" y="1752099"/>
        <a:ext cx="200149" cy="273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FAACE58-4273-4B6C-8791-A563A06AF589}" type="datetimeFigureOut">
              <a:rPr lang="he-IL" smtClean="0"/>
              <a:t>ט"ו/תמוז/תשפ"ו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650E1A8-D9C7-48C8-8B8E-220FD5073D8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605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המטרה שלנו הייתה להבין איך הסוכן לומד ואיזה רכיבים שונים משפיעים על קצב הלמידה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5027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בגודל חמש על חמש, ארבע נקודות קבועות, הנוסע נמצא באחת מהנקודות האלה, צריך לבצע </a:t>
            </a:r>
            <a:r>
              <a:rPr lang="he-IL" dirty="0" err="1"/>
              <a:t>פיקאפ</a:t>
            </a:r>
            <a:r>
              <a:rPr lang="he-IL" dirty="0"/>
              <a:t> חוקי ואז </a:t>
            </a:r>
            <a:r>
              <a:rPr lang="he-IL" dirty="0" err="1"/>
              <a:t>דרופאוף</a:t>
            </a:r>
            <a:r>
              <a:rPr lang="he-IL" dirty="0"/>
              <a:t> חוקי</a:t>
            </a:r>
          </a:p>
          <a:p>
            <a:r>
              <a:rPr lang="he-IL" dirty="0"/>
              <a:t>25 אפשרויות למיקום המונית, 5 אפשרויות לנוסע ו4 יעדים אז סך </a:t>
            </a:r>
            <a:r>
              <a:rPr lang="he-IL" dirty="0" err="1"/>
              <a:t>הכל</a:t>
            </a:r>
            <a:r>
              <a:rPr lang="he-IL" dirty="0"/>
              <a:t> 500 מצבים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9359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ללמוד ערך לכל מצב ופעולה, כמה טוב לבצע פעולה מסוימת במצב מסוים</a:t>
            </a:r>
          </a:p>
          <a:p>
            <a:r>
              <a:rPr lang="en-US" dirty="0"/>
              <a:t>SARSA</a:t>
            </a:r>
            <a:r>
              <a:rPr lang="he-IL" dirty="0"/>
              <a:t> הוא </a:t>
            </a:r>
            <a:r>
              <a:rPr lang="en-US" dirty="0"/>
              <a:t>on policy</a:t>
            </a:r>
            <a:r>
              <a:rPr lang="he-IL" dirty="0"/>
              <a:t> זה אומר שהעדכון מתבצע לפי פעולה שהסוכן באמת בחר לבצע במצב הבא ולא בפעולה הכי טובה תאורטית</a:t>
            </a:r>
          </a:p>
          <a:p>
            <a:r>
              <a:rPr lang="he-IL" dirty="0"/>
              <a:t>בכל צעד הסוכן נמצא במצב בוחר פעולה מקבל תגמול ואז עובר למצב הבא בוחר את הפעולה הבאה ואז לפי זה הוא מעדכן את ה</a:t>
            </a:r>
            <a:r>
              <a:rPr lang="en-US" dirty="0"/>
              <a:t>Q</a:t>
            </a:r>
            <a:r>
              <a:rPr lang="he-IL" dirty="0"/>
              <a:t> לפי הנוסחה</a:t>
            </a:r>
          </a:p>
          <a:p>
            <a:r>
              <a:rPr lang="he-IL" dirty="0"/>
              <a:t>הוא מעדכן כל פעם רק מצב אחד אז הלמידה יכולה להיות איטית</a:t>
            </a:r>
          </a:p>
          <a:p>
            <a:r>
              <a:rPr lang="he-IL" dirty="0"/>
              <a:t>זה למה אנחנו משתמשים גם ב</a:t>
            </a:r>
            <a:r>
              <a:rPr lang="en-US" dirty="0"/>
              <a:t>PS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9728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השיפור ב</a:t>
            </a:r>
            <a:r>
              <a:rPr lang="en-US" dirty="0"/>
              <a:t>PS</a:t>
            </a:r>
            <a:r>
              <a:rPr lang="he-IL" dirty="0"/>
              <a:t> שזה שומר מעברים שהסוכן כבר ראה</a:t>
            </a:r>
          </a:p>
          <a:p>
            <a:r>
              <a:rPr lang="he-IL" dirty="0"/>
              <a:t>אחרי פעולה כלשהי אנחנו מחשבים את ה</a:t>
            </a:r>
            <a:r>
              <a:rPr lang="en-US" dirty="0"/>
              <a:t> TD error</a:t>
            </a:r>
            <a:r>
              <a:rPr lang="he-IL" dirty="0"/>
              <a:t> ככל שהשגיאה גדולה יותר ככה זה יותר חשוב ואז אנחנו מכניסים את זה לתור עדיפויות</a:t>
            </a:r>
          </a:p>
          <a:p>
            <a:r>
              <a:rPr lang="he-IL" dirty="0"/>
              <a:t>בשלב התכנון הסוכן חוזר לעדכן קודם את המעברים עם העדיפות הגבוהה ביותר ואז הוא לא מבזבז חישוב על כל המעברים באותה המידה</a:t>
            </a:r>
          </a:p>
          <a:p>
            <a:r>
              <a:rPr lang="he-IL" dirty="0"/>
              <a:t>הסוכן לא רק לומד מהצעד הנוכחי אלה גם חושב מחדש על מצבים קודמים שמושפעים מהמידע החדש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070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 </a:t>
            </a:r>
            <a:r>
              <a:rPr lang="en-US" dirty="0"/>
              <a:t>KERNEL</a:t>
            </a:r>
            <a:r>
              <a:rPr lang="he-IL" dirty="0"/>
              <a:t> עוזר לנו לעדכן גם מצבים דומים, אם הסוכן נמצא במשבצת דומה כולל המצב של הנוסע אותו הדבר ויש לו את אותו היעד אז הידע רלוונטי לנו גם למצב הזה</a:t>
            </a:r>
          </a:p>
          <a:p>
            <a:r>
              <a:rPr lang="he-IL" dirty="0"/>
              <a:t>אז המטרה היא להאיץ את הלמידה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2817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הנוסחה שהשתמשנו בה זאת </a:t>
            </a:r>
            <a:r>
              <a:rPr lang="he-IL" dirty="0" err="1"/>
              <a:t>זאת</a:t>
            </a:r>
            <a:endParaRPr lang="he-IL" dirty="0"/>
          </a:p>
          <a:p>
            <a:r>
              <a:rPr lang="he-IL" dirty="0"/>
              <a:t>השתמשנו בפרמטרים הקבועים האלה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3188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06A1-2282-C4CB-6A98-8A37EF7F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0FDA8EE-44A9-CB05-9B44-1EFEE3801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7475D880-974D-8593-10DA-DDBA20612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אחרי שהגדרנו </a:t>
            </a:r>
            <a:r>
              <a:rPr lang="he-IL" dirty="0" err="1"/>
              <a:t>הכל</a:t>
            </a:r>
            <a:r>
              <a:rPr lang="he-IL" dirty="0"/>
              <a:t> רצינו לראות איזה רכיבים משפיעים הכי הרבה על למידת הסוכן</a:t>
            </a:r>
          </a:p>
          <a:p>
            <a:r>
              <a:rPr lang="he-IL" dirty="0"/>
              <a:t>כדי שההשוואה תיהיה הוגנת השתמשנו בכל הרכיבים באותם הפרמטרים, 500 אפיזודות אימון, אלפא 0.1 גמא 0.99 אפסילון 0.1 חמישה צעדי תכנון </a:t>
            </a:r>
            <a:r>
              <a:rPr lang="he-IL" dirty="0" err="1"/>
              <a:t>וכו</a:t>
            </a:r>
            <a:endParaRPr lang="he-IL" dirty="0"/>
          </a:p>
          <a:p>
            <a:r>
              <a:rPr lang="he-IL" dirty="0"/>
              <a:t>אפשר לראות כאן שאם עושים </a:t>
            </a:r>
            <a:r>
              <a:rPr lang="en-US" dirty="0"/>
              <a:t>SARSA</a:t>
            </a:r>
            <a:r>
              <a:rPr lang="he-IL" dirty="0"/>
              <a:t> רגיל זה הכי פחות טוב</a:t>
            </a:r>
          </a:p>
          <a:p>
            <a:r>
              <a:rPr lang="he-IL" dirty="0"/>
              <a:t>ורק עם </a:t>
            </a:r>
            <a:r>
              <a:rPr lang="en-US" dirty="0"/>
              <a:t>KERNEL</a:t>
            </a:r>
            <a:r>
              <a:rPr lang="he-IL" dirty="0"/>
              <a:t> זה גם פחות טוב</a:t>
            </a:r>
          </a:p>
          <a:p>
            <a:r>
              <a:rPr lang="he-IL" dirty="0"/>
              <a:t>כשמשווים בין שלושתם ביחד לבין </a:t>
            </a:r>
            <a:r>
              <a:rPr lang="en-US" dirty="0"/>
              <a:t>SARSA + PS</a:t>
            </a:r>
            <a:r>
              <a:rPr lang="he-IL" dirty="0"/>
              <a:t> כי שניהם מגיעים ללמידה די דומה אפשר לראות ששלושתם ביחד בהתחלה זה יותר טוב כי ל</a:t>
            </a:r>
            <a:r>
              <a:rPr lang="en-US" dirty="0"/>
              <a:t>PS</a:t>
            </a:r>
            <a:r>
              <a:rPr lang="he-IL" dirty="0"/>
              <a:t> לוקח יותר זמן ללמוד כי הוא מעדכן רק דברים שהוא ראה וזה אבל מבחינת זמן ריצה כשזה שלושתם ביחד זה לוקח הרבה יותר זמן אז בחרנו רק את </a:t>
            </a:r>
            <a:r>
              <a:rPr lang="en-US" dirty="0"/>
              <a:t>SARSA </a:t>
            </a:r>
            <a:r>
              <a:rPr lang="he-IL" dirty="0"/>
              <a:t>+</a:t>
            </a:r>
            <a:r>
              <a:rPr lang="en-US" dirty="0"/>
              <a:t>PS</a:t>
            </a:r>
            <a:r>
              <a:rPr lang="he-IL" dirty="0"/>
              <a:t> כי זה נותן את אותם הדברים יותר מהר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558DB0B-2503-9992-C802-96731D3E5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1430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9527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 err="1"/>
              <a:t>Reward</a:t>
            </a:r>
            <a:r>
              <a:rPr lang="he-IL" b="1" dirty="0"/>
              <a:t> 3 – </a:t>
            </a:r>
            <a:r>
              <a:rPr lang="he-IL" b="1" dirty="0" err="1"/>
              <a:t>Milestones</a:t>
            </a:r>
            <a:endParaRPr lang="he-IL" dirty="0"/>
          </a:p>
          <a:p>
            <a:r>
              <a:rPr lang="he-IL" dirty="0"/>
              <a:t>בונוס על </a:t>
            </a:r>
            <a:r>
              <a:rPr lang="he-IL" b="1" dirty="0" err="1"/>
              <a:t>Pickup</a:t>
            </a:r>
            <a:r>
              <a:rPr lang="he-IL" dirty="0"/>
              <a:t> (איסוף נוסע מוצלח). </a:t>
            </a:r>
          </a:p>
          <a:p>
            <a:r>
              <a:rPr lang="he-IL" dirty="0"/>
              <a:t>קנס גבוה על </a:t>
            </a:r>
            <a:r>
              <a:rPr lang="he-IL" b="1" dirty="0" err="1"/>
              <a:t>Illegal</a:t>
            </a:r>
            <a:r>
              <a:rPr lang="he-IL" b="1" dirty="0"/>
              <a:t> </a:t>
            </a:r>
            <a:r>
              <a:rPr lang="he-IL" b="1" dirty="0" err="1"/>
              <a:t>Actions</a:t>
            </a:r>
            <a:r>
              <a:rPr lang="he-IL" dirty="0"/>
              <a:t> (פעולות לא חוקיות). </a:t>
            </a:r>
          </a:p>
          <a:p>
            <a:r>
              <a:rPr lang="he-IL" dirty="0"/>
              <a:t>קנס קבוע על כל </a:t>
            </a:r>
            <a:r>
              <a:rPr lang="he-IL" b="1" dirty="0" err="1"/>
              <a:t>Step</a:t>
            </a:r>
            <a:r>
              <a:rPr lang="he-IL" dirty="0"/>
              <a:t> (לעידוד סיום מהיר). </a:t>
            </a:r>
          </a:p>
          <a:p>
            <a:r>
              <a:rPr lang="he-IL" dirty="0"/>
              <a:t>נבחנו 4 וריאציות משקלים: </a:t>
            </a:r>
            <a:r>
              <a:rPr lang="he-IL" b="1" dirty="0"/>
              <a:t>R3_V1–R3_V4</a:t>
            </a:r>
            <a:r>
              <a:rPr lang="he-IL" dirty="0"/>
              <a:t> למציאת האיזון האופטימלי. </a:t>
            </a:r>
          </a:p>
          <a:p>
            <a:r>
              <a:rPr lang="he-IL" b="1" dirty="0"/>
              <a:t>מונחים:</a:t>
            </a:r>
            <a:endParaRPr lang="he-IL" dirty="0"/>
          </a:p>
          <a:p>
            <a:r>
              <a:rPr lang="he-IL" b="1" dirty="0" err="1"/>
              <a:t>Pickup</a:t>
            </a:r>
            <a:r>
              <a:rPr lang="he-IL" dirty="0"/>
              <a:t> – איסוף נוסע. </a:t>
            </a:r>
          </a:p>
          <a:p>
            <a:r>
              <a:rPr lang="he-IL" b="1" dirty="0" err="1"/>
              <a:t>Dropoff</a:t>
            </a:r>
            <a:r>
              <a:rPr lang="he-IL" dirty="0"/>
              <a:t> – הורדת נוסע. </a:t>
            </a:r>
          </a:p>
          <a:p>
            <a:r>
              <a:rPr lang="he-IL" b="1" dirty="0" err="1"/>
              <a:t>Illegal</a:t>
            </a:r>
            <a:r>
              <a:rPr lang="he-IL" dirty="0"/>
              <a:t> – פעולה לא חוקית. </a:t>
            </a:r>
          </a:p>
          <a:p>
            <a:r>
              <a:rPr lang="he-IL" b="1" dirty="0" err="1"/>
              <a:t>Step</a:t>
            </a:r>
            <a:r>
              <a:rPr lang="he-IL" dirty="0"/>
              <a:t> – כל צעד מקבל קנס. 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9732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3362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81B1-A027-061C-0875-6EDE2570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616FFF7-1CF2-4B23-14CF-A8381BD2A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C1A88E75-57E6-293B-5A04-D1ED31974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A8AB2D7-5E10-FB3A-54DE-42ED0CA5A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4614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מסקנות ביניים – </a:t>
            </a:r>
            <a:r>
              <a:rPr lang="he-IL" b="1" dirty="0" err="1"/>
              <a:t>Reward</a:t>
            </a:r>
            <a:r>
              <a:rPr lang="he-IL" b="1" dirty="0"/>
              <a:t> 3</a:t>
            </a:r>
            <a:endParaRPr lang="he-IL" dirty="0"/>
          </a:p>
          <a:p>
            <a:r>
              <a:rPr lang="he-IL" b="1" dirty="0"/>
              <a:t>R3_V3</a:t>
            </a:r>
            <a:r>
              <a:rPr lang="he-IL" dirty="0"/>
              <a:t> נתנה את התוצאות הטובות והיציבות ביותר.</a:t>
            </a:r>
          </a:p>
          <a:p>
            <a:r>
              <a:rPr lang="he-IL" dirty="0"/>
              <a:t>התכנסות טובה, מסלול ממוצע של כ-65 צעדים.</a:t>
            </a:r>
          </a:p>
          <a:p>
            <a:r>
              <a:rPr lang="he-IL" dirty="0"/>
              <a:t>פחות פעולות לא חוקיות והתקרבות לביצועי ה-</a:t>
            </a:r>
            <a:r>
              <a:rPr lang="he-IL" dirty="0" err="1"/>
              <a:t>Base</a:t>
            </a:r>
            <a:r>
              <a:rPr lang="he-IL" dirty="0"/>
              <a:t> </a:t>
            </a:r>
            <a:r>
              <a:rPr lang="he-IL" dirty="0" err="1"/>
              <a:t>Reward</a:t>
            </a:r>
            <a:r>
              <a:rPr lang="he-IL" dirty="0"/>
              <a:t>.</a:t>
            </a:r>
          </a:p>
          <a:p>
            <a:r>
              <a:rPr lang="he-IL" b="1" dirty="0"/>
              <a:t>תובנות מרכזיות</a:t>
            </a:r>
            <a:endParaRPr lang="he-IL" dirty="0"/>
          </a:p>
          <a:p>
            <a:r>
              <a:rPr lang="he-IL" dirty="0"/>
              <a:t>קנסות גבוהים מדי (</a:t>
            </a:r>
            <a:r>
              <a:rPr lang="he-IL" b="1" dirty="0"/>
              <a:t>R3_V1, R3_V4</a:t>
            </a:r>
            <a:r>
              <a:rPr lang="he-IL" dirty="0"/>
              <a:t>) פוגעים בלמידה ויוצרים "פחד מחקירה".</a:t>
            </a:r>
          </a:p>
          <a:p>
            <a:r>
              <a:rPr lang="he-IL" dirty="0"/>
              <a:t>קנס מתון על פעולות לא חוקיות (</a:t>
            </a:r>
            <a:r>
              <a:rPr lang="he-IL" b="1" dirty="0"/>
              <a:t>3-</a:t>
            </a:r>
            <a:r>
              <a:rPr lang="he-IL" dirty="0"/>
              <a:t>) מאפשר למידה טובה יותר.</a:t>
            </a:r>
          </a:p>
          <a:p>
            <a:r>
              <a:rPr lang="he-IL" dirty="0"/>
              <a:t>קנס גבוה מדי לכל צעד (</a:t>
            </a:r>
            <a:r>
              <a:rPr lang="he-IL" b="1" dirty="0"/>
              <a:t>2- ב-V2</a:t>
            </a:r>
            <a:r>
              <a:rPr lang="he-IL" dirty="0"/>
              <a:t>) יוצר "פחד מתנועה".</a:t>
            </a:r>
          </a:p>
          <a:p>
            <a:r>
              <a:rPr lang="he-IL" dirty="0"/>
              <a:t>קנס של </a:t>
            </a:r>
            <a:r>
              <a:rPr lang="he-IL" b="1" dirty="0"/>
              <a:t>1- לצעד</a:t>
            </a:r>
            <a:r>
              <a:rPr lang="he-IL" dirty="0"/>
              <a:t> (</a:t>
            </a:r>
            <a:r>
              <a:rPr lang="he-IL" b="1" dirty="0"/>
              <a:t>V3</a:t>
            </a:r>
            <a:r>
              <a:rPr lang="he-IL" dirty="0"/>
              <a:t>) מעודד התקדמות בלי לפגוע בלמידה.</a:t>
            </a:r>
          </a:p>
          <a:p>
            <a:r>
              <a:rPr lang="he-IL" b="1" dirty="0"/>
              <a:t>סיכום</a:t>
            </a:r>
            <a:endParaRPr lang="he-IL" dirty="0"/>
          </a:p>
          <a:p>
            <a:r>
              <a:rPr lang="he-IL" b="1" dirty="0"/>
              <a:t>R3_V3 = האיזון הטוב ביותר (</a:t>
            </a:r>
            <a:r>
              <a:rPr lang="he-IL" b="1" dirty="0" err="1"/>
              <a:t>Sweet</a:t>
            </a:r>
            <a:r>
              <a:rPr lang="he-IL" b="1" dirty="0"/>
              <a:t> </a:t>
            </a:r>
            <a:r>
              <a:rPr lang="he-IL" b="1" dirty="0" err="1"/>
              <a:t>Spot</a:t>
            </a:r>
            <a:r>
              <a:rPr lang="he-IL" b="1" dirty="0"/>
              <a:t>)</a:t>
            </a:r>
            <a:r>
              <a:rPr lang="he-IL" dirty="0"/>
              <a:t>.</a:t>
            </a:r>
          </a:p>
          <a:p>
            <a:r>
              <a:rPr lang="he-IL" dirty="0"/>
              <a:t>מענישה טעויות ומעודדת התקדמות, בלי לשתק את הלמידה.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5027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 err="1"/>
              <a:t>Reward</a:t>
            </a:r>
            <a:r>
              <a:rPr lang="he-IL" b="1" dirty="0"/>
              <a:t> 4 – </a:t>
            </a:r>
            <a:r>
              <a:rPr lang="he-IL" b="1" dirty="0" err="1"/>
              <a:t>Heuristic</a:t>
            </a:r>
            <a:r>
              <a:rPr lang="he-IL" b="1" dirty="0"/>
              <a:t> </a:t>
            </a:r>
            <a:r>
              <a:rPr lang="he-IL" b="1" dirty="0" err="1"/>
              <a:t>Distance</a:t>
            </a:r>
            <a:r>
              <a:rPr lang="he-IL" b="1" dirty="0"/>
              <a:t> </a:t>
            </a:r>
            <a:r>
              <a:rPr lang="he-IL" b="1" dirty="0" err="1"/>
              <a:t>Shaping</a:t>
            </a:r>
            <a:endParaRPr lang="he-IL" dirty="0"/>
          </a:p>
          <a:p>
            <a:r>
              <a:rPr lang="he-IL" dirty="0"/>
              <a:t>תגמול לפי </a:t>
            </a:r>
            <a:r>
              <a:rPr lang="he-IL" b="1" dirty="0"/>
              <a:t>מרחק מנהטן</a:t>
            </a:r>
            <a:r>
              <a:rPr lang="he-IL" dirty="0"/>
              <a:t> ליעד.</a:t>
            </a:r>
          </a:p>
          <a:p>
            <a:r>
              <a:rPr lang="he-IL" b="1" dirty="0" err="1"/>
              <a:t>Closer</a:t>
            </a:r>
            <a:r>
              <a:rPr lang="he-IL" dirty="0"/>
              <a:t> – בונוס על התקרבות ליעד.</a:t>
            </a:r>
          </a:p>
          <a:p>
            <a:r>
              <a:rPr lang="he-IL" b="1" dirty="0" err="1"/>
              <a:t>Further</a:t>
            </a:r>
            <a:r>
              <a:rPr lang="he-IL" dirty="0"/>
              <a:t> – קנס על התרחקות מהיעד.</a:t>
            </a:r>
          </a:p>
          <a:p>
            <a:r>
              <a:rPr lang="he-IL" b="1" dirty="0" err="1"/>
              <a:t>Neutral</a:t>
            </a:r>
            <a:r>
              <a:rPr lang="he-IL" dirty="0"/>
              <a:t> – קנס על עמידה במקום.</a:t>
            </a:r>
          </a:p>
          <a:p>
            <a:r>
              <a:rPr lang="he-IL" dirty="0"/>
              <a:t>נשמרו תגמולי </a:t>
            </a:r>
            <a:r>
              <a:rPr lang="he-IL" b="1" dirty="0" err="1"/>
              <a:t>Pickup</a:t>
            </a:r>
            <a:r>
              <a:rPr lang="he-IL" dirty="0"/>
              <a:t> ו-</a:t>
            </a:r>
            <a:r>
              <a:rPr lang="he-IL" b="1" dirty="0" err="1"/>
              <a:t>Dropoff</a:t>
            </a:r>
            <a:r>
              <a:rPr lang="he-IL" dirty="0"/>
              <a:t>.</a:t>
            </a:r>
          </a:p>
          <a:p>
            <a:r>
              <a:rPr lang="he-IL" dirty="0"/>
              <a:t>נשמרו קנסות על </a:t>
            </a:r>
            <a:r>
              <a:rPr lang="he-IL" b="1" dirty="0" err="1"/>
              <a:t>Illegal</a:t>
            </a:r>
            <a:r>
              <a:rPr lang="he-IL" b="1" dirty="0"/>
              <a:t> </a:t>
            </a:r>
            <a:r>
              <a:rPr lang="he-IL" b="1" dirty="0" err="1"/>
              <a:t>Actions</a:t>
            </a:r>
            <a:r>
              <a:rPr lang="he-IL" dirty="0"/>
              <a:t>.</a:t>
            </a:r>
          </a:p>
          <a:p>
            <a:r>
              <a:rPr lang="he-IL" dirty="0"/>
              <a:t>נבחנו 4 וריאציות משקלים: </a:t>
            </a:r>
            <a:r>
              <a:rPr lang="he-IL" b="1" dirty="0"/>
              <a:t>R4_V1–R4_V4</a:t>
            </a:r>
            <a:r>
              <a:rPr lang="he-IL" dirty="0"/>
              <a:t>.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3222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F328C-D409-175E-01D5-00453FF8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2939ECD-1E14-A50C-686E-22B3276EE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255FCFD2-FE5C-1E69-2979-E10D98BA9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80F385C-978A-BA70-6A5A-7B8AB5BF9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6764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53D1C-E8DD-A76D-F906-4C36C46B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E0624AD-0296-C800-4CEB-7D2D73B8F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AEF62A6-687A-F937-41D0-F08BF480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097A40E-4D36-4BF0-4685-83530EE56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0154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מסקנות ביניים – </a:t>
            </a:r>
            <a:r>
              <a:rPr lang="he-IL" b="1" dirty="0" err="1"/>
              <a:t>Reward</a:t>
            </a:r>
            <a:r>
              <a:rPr lang="he-IL" b="1" dirty="0"/>
              <a:t> 4</a:t>
            </a:r>
            <a:endParaRPr lang="he-IL" dirty="0"/>
          </a:p>
          <a:p>
            <a:r>
              <a:rPr lang="he-IL" dirty="0"/>
              <a:t>ביצועי כל הגרסאות (</a:t>
            </a:r>
            <a:r>
              <a:rPr lang="he-IL" b="1" dirty="0"/>
              <a:t>V1–V4</a:t>
            </a:r>
            <a:r>
              <a:rPr lang="he-IL" dirty="0"/>
              <a:t>) היו דומים מאוד.</a:t>
            </a:r>
          </a:p>
          <a:p>
            <a:r>
              <a:rPr lang="he-IL" dirty="0"/>
              <a:t>שינוי המשקלים כמעט לא השפיע על התוצאות.</a:t>
            </a:r>
          </a:p>
          <a:p>
            <a:r>
              <a:rPr lang="he-IL" dirty="0"/>
              <a:t>הבעיה כנראה בגישה עצמה, לא בכיול הפרמטרים.</a:t>
            </a:r>
          </a:p>
          <a:p>
            <a:r>
              <a:rPr lang="he-IL" b="1" dirty="0"/>
              <a:t>תצפיות מרכזיות</a:t>
            </a:r>
            <a:endParaRPr lang="he-IL" dirty="0"/>
          </a:p>
          <a:p>
            <a:r>
              <a:rPr lang="he-IL" dirty="0"/>
              <a:t>הלמידה נעצרת מוקדם ולא מתכנסת למדיניות אופטימלית.</a:t>
            </a:r>
          </a:p>
          <a:p>
            <a:r>
              <a:rPr lang="he-IL" dirty="0"/>
              <a:t>הסוכן נתקע במסלולים ארוכים ולא יעילים.</a:t>
            </a:r>
          </a:p>
          <a:p>
            <a:r>
              <a:rPr lang="he-IL" dirty="0"/>
              <a:t>כמות הטעויות יורדת מעט, אך לא מגיעה לאפס.</a:t>
            </a:r>
          </a:p>
          <a:p>
            <a:r>
              <a:rPr lang="he-IL" dirty="0"/>
              <a:t>הסוכן זהיר יותר, אך לא לומד את חוקי הסביבה באופן מלא.</a:t>
            </a:r>
          </a:p>
          <a:p>
            <a:r>
              <a:rPr lang="he-IL" b="1" dirty="0"/>
              <a:t>סיכום</a:t>
            </a:r>
            <a:endParaRPr lang="he-IL" dirty="0"/>
          </a:p>
          <a:p>
            <a:r>
              <a:rPr lang="he-IL" dirty="0" err="1"/>
              <a:t>Reward</a:t>
            </a:r>
            <a:r>
              <a:rPr lang="he-IL" dirty="0"/>
              <a:t> 4 לא שיפר את הלמידה.</a:t>
            </a:r>
          </a:p>
          <a:p>
            <a:r>
              <a:rPr lang="he-IL" dirty="0"/>
              <a:t>תגמול מבוסס מרחק נכשל במשימה זו.</a:t>
            </a:r>
          </a:p>
          <a:p>
            <a:r>
              <a:rPr lang="he-IL" dirty="0"/>
              <a:t>נדרש להסביר בהמשך את הכשל התיאורטי והמעשי של הגישה.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018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פרק 4 – ניתוח כשלים</a:t>
            </a:r>
            <a:endParaRPr lang="he-IL" dirty="0"/>
          </a:p>
          <a:p>
            <a:r>
              <a:rPr lang="he-IL" dirty="0"/>
              <a:t>יצרנו הדמיות (</a:t>
            </a:r>
            <a:r>
              <a:rPr lang="he-IL" dirty="0" err="1"/>
              <a:t>GIFs</a:t>
            </a:r>
            <a:r>
              <a:rPr lang="he-IL" dirty="0"/>
              <a:t>) של המדיניות שנלמדה.</a:t>
            </a:r>
          </a:p>
          <a:p>
            <a:r>
              <a:rPr lang="he-IL" dirty="0"/>
              <a:t>למרות שהגרפים הראו התכנסות, במבחן בפועל התגלתה בעיה.</a:t>
            </a:r>
          </a:p>
          <a:p>
            <a:r>
              <a:rPr lang="he-IL" dirty="0"/>
              <a:t>עם </a:t>
            </a:r>
            <a:r>
              <a:rPr lang="he-IL" b="1" dirty="0"/>
              <a:t>ε=0</a:t>
            </a:r>
            <a:r>
              <a:rPr lang="he-IL" dirty="0"/>
              <a:t> (ללא חקירה), סוכני </a:t>
            </a:r>
            <a:r>
              <a:rPr lang="he-IL" b="1" dirty="0" err="1"/>
              <a:t>Reward</a:t>
            </a:r>
            <a:r>
              <a:rPr lang="he-IL" b="1" dirty="0"/>
              <a:t> 3</a:t>
            </a:r>
            <a:r>
              <a:rPr lang="he-IL" dirty="0"/>
              <a:t> ו-</a:t>
            </a:r>
            <a:r>
              <a:rPr lang="he-IL" b="1" dirty="0" err="1"/>
              <a:t>Reward</a:t>
            </a:r>
            <a:r>
              <a:rPr lang="he-IL" b="1" dirty="0"/>
              <a:t> 4</a:t>
            </a:r>
            <a:r>
              <a:rPr lang="he-IL" dirty="0"/>
              <a:t> נתקעו בלולאות אינסופיות.</a:t>
            </a:r>
          </a:p>
          <a:p>
            <a:r>
              <a:rPr lang="he-IL" dirty="0"/>
              <a:t>הם לא הצליחו להשלים את המשימה.</a:t>
            </a:r>
          </a:p>
          <a:p>
            <a:r>
              <a:rPr lang="he-IL" dirty="0"/>
              <a:t>רק סוכן </a:t>
            </a:r>
            <a:r>
              <a:rPr lang="he-IL" b="1" dirty="0" err="1"/>
              <a:t>Base</a:t>
            </a:r>
            <a:r>
              <a:rPr lang="he-IL" b="1" dirty="0"/>
              <a:t> </a:t>
            </a:r>
            <a:r>
              <a:rPr lang="he-IL" b="1" dirty="0" err="1"/>
              <a:t>Reward</a:t>
            </a:r>
            <a:r>
              <a:rPr lang="he-IL" dirty="0"/>
              <a:t> הגיע ליעד בצורה תקינה.</a:t>
            </a:r>
          </a:p>
          <a:p>
            <a:r>
              <a:rPr lang="he-IL" dirty="0"/>
              <a:t>נחשף פער בין עקומות הלמידה לביצועים בפועל.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4075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חשבנו ראינו בגרסה הכי טובה שהוא מתכנס לבערך 65 אבל בפועל שהרצנו הוא לא סיים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בדקנו וראינו שכשאר האפסילון הוא 0 הוא </a:t>
            </a:r>
            <a:r>
              <a:rPr lang="he-IL" dirty="0" err="1"/>
              <a:t>נקצע</a:t>
            </a:r>
            <a:r>
              <a:rPr lang="he-IL" dirty="0"/>
              <a:t> במעגלים ולא מסיים אבל שהוא נגיד 0.1 הוא לפעמים מסיים ולפעמים לא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אז חשבנו שאולי שהבעיה זה חוסר באימון ולכן אימנו על 3000 </a:t>
            </a:r>
            <a:r>
              <a:rPr lang="he-IL" dirty="0" err="1"/>
              <a:t>אפיסודות</a:t>
            </a:r>
            <a:r>
              <a:rPr lang="he-IL" dirty="0"/>
              <a:t> במקום 500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רואים כבר מגמת למידה טובה ואז באמת הצליח לסיים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9837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עבור </a:t>
            </a:r>
            <a:r>
              <a:rPr lang="en-US" dirty="0"/>
              <a:t>reward</a:t>
            </a:r>
            <a:r>
              <a:rPr lang="he-IL" dirty="0"/>
              <a:t> 4 ראינו כבר לפני זה בגרפים שהוא לא טוב והמשחק עם המשקלים לא משנה כלום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 אימנו גם כן עבור 3000 </a:t>
            </a:r>
            <a:r>
              <a:rPr lang="he-IL" dirty="0" err="1"/>
              <a:t>אפיסודות</a:t>
            </a:r>
            <a:r>
              <a:rPr lang="he-IL" dirty="0"/>
              <a:t> וראינו שהוא לא לומד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הבעיה זה לא הלמידה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אז יצרנו פה את המפה בשביל לראות את הפוסלי שהוא לומד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אפשר לראות שלרוב הוא כן מצליח ללמוד להגיע לנוסע אבל אז לא מצליח אחרי זה ללמוד מה לעשות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נתקע בלולאות ובמינימום מקומיות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E1A8-D9C7-48C8-8B8E-220FD5073D89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3970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 rtl="1">
              <a:defRPr sz="6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 rtl="1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70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3000" y="533401"/>
            <a:ext cx="9906000" cy="1382156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43000" y="2009554"/>
            <a:ext cx="9906000" cy="4024424"/>
          </a:xfrm>
        </p:spPr>
        <p:txBody>
          <a:bodyPr/>
          <a:lstStyle>
            <a:lvl1pPr algn="r" rtl="1">
              <a:lnSpc>
                <a:spcPct val="100000"/>
              </a:lnSpc>
              <a:defRPr/>
            </a:lvl1pPr>
            <a:lvl2pPr algn="r" rtl="1">
              <a:lnSpc>
                <a:spcPct val="100000"/>
              </a:lnSpc>
              <a:defRPr/>
            </a:lvl2pPr>
            <a:lvl3pPr algn="r" rtl="1">
              <a:lnSpc>
                <a:spcPct val="100000"/>
              </a:lnSpc>
              <a:defRPr/>
            </a:lvl3pPr>
            <a:lvl4pPr algn="r" rtl="1">
              <a:lnSpc>
                <a:spcPct val="100000"/>
              </a:lnSpc>
              <a:defRPr/>
            </a:lvl4pPr>
            <a:lvl5pPr algn="r" rtl="1">
              <a:lnSpc>
                <a:spcPct val="100000"/>
              </a:lnSpc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9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844550" y="1709738"/>
            <a:ext cx="10515600" cy="2852737"/>
          </a:xfrm>
        </p:spPr>
        <p:txBody>
          <a:bodyPr anchor="b"/>
          <a:lstStyle>
            <a:lvl1pPr algn="r" rtl="1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844550" y="4589463"/>
            <a:ext cx="10515600" cy="1500187"/>
          </a:xfrm>
        </p:spPr>
        <p:txBody>
          <a:bodyPr/>
          <a:lstStyle>
            <a:lvl1pPr marL="0" indent="0" algn="r" rtl="1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1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3000" y="533401"/>
            <a:ext cx="9906000" cy="1382156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flipH="1">
            <a:off x="6172200" y="1924493"/>
            <a:ext cx="5181600" cy="4252470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838200" y="1924493"/>
            <a:ext cx="5181600" cy="4252470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836612" y="365125"/>
            <a:ext cx="10515600" cy="1325563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6194425" y="1734325"/>
            <a:ext cx="5157787" cy="823912"/>
          </a:xfrm>
        </p:spPr>
        <p:txBody>
          <a:bodyPr anchor="b">
            <a:normAutofit/>
          </a:bodyPr>
          <a:lstStyle>
            <a:lvl1pPr marL="0" indent="0" algn="r" rtl="1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6194425" y="2558237"/>
            <a:ext cx="5157787" cy="3684588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 flipH="1">
            <a:off x="836612" y="1734325"/>
            <a:ext cx="5183188" cy="823912"/>
          </a:xfrm>
        </p:spPr>
        <p:txBody>
          <a:bodyPr anchor="b">
            <a:normAutofit/>
          </a:bodyPr>
          <a:lstStyle>
            <a:lvl1pPr marL="0" indent="0" algn="r" rtl="1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 flipH="1">
            <a:off x="836612" y="2558237"/>
            <a:ext cx="5183188" cy="3684588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3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3000" y="533401"/>
            <a:ext cx="9906000" cy="1382156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7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5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419975" y="457200"/>
            <a:ext cx="3932237" cy="1600200"/>
          </a:xfrm>
        </p:spPr>
        <p:txBody>
          <a:bodyPr anchor="b"/>
          <a:lstStyle>
            <a:lvl1pPr algn="r" rtl="1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836612" y="987425"/>
            <a:ext cx="6172200" cy="4873625"/>
          </a:xfrm>
        </p:spPr>
        <p:txBody>
          <a:bodyPr/>
          <a:lstStyle>
            <a:lvl1pPr algn="r" rtl="1">
              <a:defRPr sz="3200"/>
            </a:lvl1pPr>
            <a:lvl2pPr algn="r" rtl="1"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H="1">
            <a:off x="7419975" y="2057400"/>
            <a:ext cx="3932237" cy="3811588"/>
          </a:xfrm>
        </p:spPr>
        <p:txBody>
          <a:bodyPr/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9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419975" y="457200"/>
            <a:ext cx="3932237" cy="1600200"/>
          </a:xfrm>
        </p:spPr>
        <p:txBody>
          <a:bodyPr anchor="b"/>
          <a:lstStyle>
            <a:lvl1pPr algn="r" rtl="1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flipH="1">
            <a:off x="836612" y="987425"/>
            <a:ext cx="6172200" cy="4873625"/>
          </a:xfrm>
        </p:spPr>
        <p:txBody>
          <a:bodyPr/>
          <a:lstStyle>
            <a:lvl1pPr marL="0" indent="0" algn="r" rtl="1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H="1">
            <a:off x="7419975" y="2057400"/>
            <a:ext cx="3932237" cy="3811588"/>
          </a:xfrm>
        </p:spPr>
        <p:txBody>
          <a:bodyPr/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2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3000" y="533401"/>
            <a:ext cx="9906000" cy="1382156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flipH="1">
            <a:off x="1143000" y="2009554"/>
            <a:ext cx="9906000" cy="4024424"/>
          </a:xfrm>
        </p:spPr>
        <p:txBody>
          <a:bodyPr vert="eaVer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3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 flipH="1">
            <a:off x="838200" y="365125"/>
            <a:ext cx="2628900" cy="5811838"/>
          </a:xfrm>
        </p:spPr>
        <p:txBody>
          <a:bodyPr vert="eaVert"/>
          <a:lstStyle>
            <a:lvl1pPr algn="r" rtl="1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 flipH="1">
            <a:off x="3619500" y="365125"/>
            <a:ext cx="7734300" cy="5811838"/>
          </a:xfrm>
        </p:spPr>
        <p:txBody>
          <a:bodyPr vert="eaVer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660990" y="6398878"/>
            <a:ext cx="4193908" cy="365125"/>
          </a:xfrm>
        </p:spPr>
        <p:txBody>
          <a:bodyPr/>
          <a:lstStyle>
            <a:lvl1pPr algn="l" rtl="1">
              <a:defRPr/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7540256" y="6398878"/>
            <a:ext cx="4497315" cy="365125"/>
          </a:xfrm>
        </p:spPr>
        <p:txBody>
          <a:bodyPr/>
          <a:lstStyle>
            <a:lvl1pPr algn="r" rtl="1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636" y="6398878"/>
            <a:ext cx="470887" cy="365125"/>
          </a:xfrm>
        </p:spPr>
        <p:txBody>
          <a:bodyPr/>
          <a:lstStyle>
            <a:lvl1pPr algn="l" rtl="1">
              <a:defRPr/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9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>
            <a:off x="9072282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>
            <a:off x="11288232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V="1">
            <a:off x="5948362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>
            <a:off x="0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>
            <a:off x="0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V="1">
            <a:off x="0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660990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1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>
            <a:off x="7540256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18636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1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3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gif"/><Relationship Id="rId5" Type="http://schemas.openxmlformats.org/officeDocument/2006/relationships/image" Target="../media/image25.gif"/><Relationship Id="rId4" Type="http://schemas.openxmlformats.org/officeDocument/2006/relationships/image" Target="../media/image24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E7795B-89BD-A33C-3AD8-F8C09FCA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he-IL" sz="6000" b="1" i="0" spc="300" err="1">
                <a:latin typeface="+mn-lt"/>
                <a:ea typeface="+mn-ea"/>
                <a:cs typeface="+mn-cs"/>
              </a:rPr>
              <a:t>Reinforcement</a:t>
            </a:r>
            <a:r>
              <a:rPr lang="he-IL" sz="6000" b="1" i="0" spc="300">
                <a:latin typeface="+mn-lt"/>
                <a:ea typeface="+mn-ea"/>
                <a:cs typeface="+mn-cs"/>
              </a:rPr>
              <a:t> </a:t>
            </a:r>
            <a:r>
              <a:rPr lang="he-IL" sz="6000" b="1" i="0" spc="300" err="1">
                <a:latin typeface="+mn-lt"/>
                <a:ea typeface="+mn-ea"/>
                <a:cs typeface="+mn-cs"/>
              </a:rPr>
              <a:t>Learning</a:t>
            </a:r>
            <a:r>
              <a:rPr lang="he-IL" sz="6000" b="1" i="0" spc="300">
                <a:latin typeface="+mn-lt"/>
                <a:ea typeface="+mn-ea"/>
                <a:cs typeface="+mn-cs"/>
              </a:rPr>
              <a:t> </a:t>
            </a:r>
            <a:r>
              <a:rPr lang="he-IL" sz="6000" b="1" i="0" spc="300" err="1">
                <a:latin typeface="+mn-lt"/>
                <a:ea typeface="+mn-ea"/>
                <a:cs typeface="+mn-cs"/>
              </a:rPr>
              <a:t>Project</a:t>
            </a:r>
            <a:endParaRPr lang="he-IL" sz="6000" b="1" i="0" spc="300">
              <a:latin typeface="+mn-lt"/>
              <a:ea typeface="+mn-ea"/>
              <a:cs typeface="+mn-cs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843D69F-7565-0FE1-056C-7C7797B288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Gal Moyal &amp; Eden Furman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425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660F72-B1DE-DEC2-CE6A-4D6E0452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he-IL" sz="4800" b="1" i="0" spc="300">
                <a:latin typeface="+mn-lt"/>
                <a:ea typeface="+mn-ea"/>
                <a:cs typeface="+mn-cs"/>
              </a:rPr>
              <a:t>Environment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F25CD8D-0829-2863-3041-EFDCC9FD2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 rtl="0">
              <a:buNone/>
            </a:pPr>
            <a:r>
              <a:rPr lang="en-US" b="1"/>
              <a:t>Environment Overview</a:t>
            </a:r>
          </a:p>
          <a:p>
            <a:pPr algn="l" rtl="0"/>
            <a:r>
              <a:rPr lang="en-US"/>
              <a:t>5×5 grid world with internal walls</a:t>
            </a:r>
          </a:p>
          <a:p>
            <a:pPr algn="l" rtl="0"/>
            <a:r>
              <a:rPr lang="en-US"/>
              <a:t>One taxi agent navigates the environment</a:t>
            </a:r>
          </a:p>
          <a:p>
            <a:pPr algn="l" rtl="0"/>
            <a:r>
              <a:rPr lang="en-US"/>
              <a:t>Four fixed landmarks: R, G, Y, B</a:t>
            </a:r>
          </a:p>
          <a:p>
            <a:pPr algn="l" rtl="0"/>
            <a:r>
              <a:rPr lang="en-US"/>
              <a:t>Passenger starts at one landmark</a:t>
            </a:r>
          </a:p>
          <a:p>
            <a:pPr algn="l" rtl="0"/>
            <a:r>
              <a:rPr lang="en-US"/>
              <a:t>Destination is another landmark</a:t>
            </a:r>
          </a:p>
          <a:p>
            <a:pPr marL="0" indent="0" algn="l" rtl="0">
              <a:buNone/>
            </a:pPr>
            <a:r>
              <a:rPr lang="fr-FR" b="1"/>
              <a:t>State Space</a:t>
            </a:r>
          </a:p>
          <a:p>
            <a:pPr algn="l" rtl="0"/>
            <a:r>
              <a:rPr lang="fr-FR"/>
              <a:t>Taxi position: 25</a:t>
            </a:r>
          </a:p>
          <a:p>
            <a:pPr algn="l" rtl="0"/>
            <a:r>
              <a:rPr lang="fr-FR"/>
              <a:t>Passenger location/</a:t>
            </a:r>
            <a:r>
              <a:rPr lang="fr-FR" err="1"/>
              <a:t>status</a:t>
            </a:r>
            <a:r>
              <a:rPr lang="fr-FR"/>
              <a:t>: 5</a:t>
            </a:r>
          </a:p>
          <a:p>
            <a:pPr algn="l" rtl="0"/>
            <a:r>
              <a:rPr lang="fr-FR"/>
              <a:t>Destination: 4</a:t>
            </a:r>
          </a:p>
          <a:p>
            <a:pPr marL="0" indent="0" algn="l" rtl="0">
              <a:buNone/>
            </a:pPr>
            <a:r>
              <a:rPr lang="fr-FR" b="1"/>
              <a:t>Total states: 500</a:t>
            </a:r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C38D54B0-56A9-2D2A-4C1F-F5E4738D4EC6}"/>
              </a:ext>
            </a:extLst>
          </p:cNvPr>
          <p:cNvGrpSpPr/>
          <p:nvPr/>
        </p:nvGrpSpPr>
        <p:grpSpPr>
          <a:xfrm>
            <a:off x="6836229" y="2143568"/>
            <a:ext cx="4494731" cy="3011906"/>
            <a:chOff x="6563227" y="2143568"/>
            <a:chExt cx="4767733" cy="3034012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A4AD862-77A7-AF21-F055-C44615FA71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3227" y="2143568"/>
              <a:ext cx="4767733" cy="30340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מלבן 3">
              <a:extLst>
                <a:ext uri="{FF2B5EF4-FFF2-40B4-BE49-F238E27FC236}">
                  <a16:creationId xmlns:a16="http://schemas.microsoft.com/office/drawing/2014/main" id="{FCD8B4B8-5FE4-8234-3CE8-F122F2F8D610}"/>
                </a:ext>
              </a:extLst>
            </p:cNvPr>
            <p:cNvSpPr/>
            <p:nvPr/>
          </p:nvSpPr>
          <p:spPr>
            <a:xfrm>
              <a:off x="6980073" y="2566741"/>
              <a:ext cx="450725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</a:t>
              </a:r>
              <a:endParaRPr lang="he-IL" sz="3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" name="מלבן 4">
              <a:extLst>
                <a:ext uri="{FF2B5EF4-FFF2-40B4-BE49-F238E27FC236}">
                  <a16:creationId xmlns:a16="http://schemas.microsoft.com/office/drawing/2014/main" id="{D65D1F19-1E0A-9DCB-CFB1-EFCFA880BAD1}"/>
                </a:ext>
              </a:extLst>
            </p:cNvPr>
            <p:cNvSpPr/>
            <p:nvPr/>
          </p:nvSpPr>
          <p:spPr>
            <a:xfrm>
              <a:off x="6980073" y="4330227"/>
              <a:ext cx="450725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</a:t>
              </a:r>
              <a:endParaRPr lang="he-IL" sz="3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9AC635DD-F80C-2DAA-A69E-E3DF3208122C}"/>
                </a:ext>
              </a:extLst>
            </p:cNvPr>
            <p:cNvSpPr/>
            <p:nvPr/>
          </p:nvSpPr>
          <p:spPr>
            <a:xfrm>
              <a:off x="10441730" y="2632055"/>
              <a:ext cx="450725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</a:t>
              </a:r>
              <a:endParaRPr lang="he-IL" sz="3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מלבן 6">
              <a:extLst>
                <a:ext uri="{FF2B5EF4-FFF2-40B4-BE49-F238E27FC236}">
                  <a16:creationId xmlns:a16="http://schemas.microsoft.com/office/drawing/2014/main" id="{B0216104-5F8F-4876-1009-E3B9B1D14296}"/>
                </a:ext>
              </a:extLst>
            </p:cNvPr>
            <p:cNvSpPr/>
            <p:nvPr/>
          </p:nvSpPr>
          <p:spPr>
            <a:xfrm>
              <a:off x="9579581" y="4330226"/>
              <a:ext cx="450725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  <a:endParaRPr lang="he-IL" sz="32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5051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513F-3F90-669F-4480-495922A4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B888EE-660E-E4D6-E044-97CFF267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4800" b="1" i="0" spc="300">
                <a:latin typeface="+mn-lt"/>
                <a:ea typeface="+mn-ea"/>
                <a:cs typeface="+mn-cs"/>
              </a:rPr>
              <a:t>SARSA</a:t>
            </a:r>
            <a:endParaRPr lang="he-IL" sz="4800" b="1" i="0" spc="30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158A773-F1EB-04B4-3DB2-BA53ED131F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l" rtl="0">
                  <a:buNone/>
                </a:pPr>
                <a:r>
                  <a:rPr lang="en-US" b="1"/>
                  <a:t>Idea</a:t>
                </a:r>
              </a:p>
              <a:p>
                <a:pPr marL="0" indent="0" algn="l" rtl="0">
                  <a:buNone/>
                </a:pPr>
                <a:r>
                  <a:rPr lang="en-US"/>
                  <a:t>Learn the value of state-action pairs using actual experience.</a:t>
                </a:r>
              </a:p>
              <a:p>
                <a:pPr marL="0" indent="0" algn="l" rtl="0">
                  <a:buNone/>
                </a:pPr>
                <a:r>
                  <a:rPr lang="en-US" b="1"/>
                  <a:t>Update Rule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⃪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:r>
                  <a:rPr lang="en-US" b="1"/>
                  <a:t>Characteristics</a:t>
                </a:r>
              </a:p>
              <a:p>
                <a:pPr algn="l" rtl="0"/>
                <a:r>
                  <a:rPr lang="en-US"/>
                  <a:t>On-policy algorithm</a:t>
                </a:r>
              </a:p>
              <a:p>
                <a:pPr algn="l" rtl="0"/>
                <a:r>
                  <a:rPr lang="en-US"/>
                  <a:t>Uses the action actually selected next</a:t>
                </a:r>
              </a:p>
              <a:p>
                <a:pPr algn="l" rtl="0"/>
                <a:r>
                  <a:rPr lang="en-US"/>
                  <a:t>Learns through interaction with the environment</a:t>
                </a:r>
              </a:p>
              <a:p>
                <a:pPr algn="l" rtl="0"/>
                <a:r>
                  <a:rPr lang="en-US"/>
                  <a:t>Updates one state-action pair at a time</a:t>
                </a: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158A773-F1EB-04B4-3DB2-BA53ED131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85" t="-2121" b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מציין מיקום תוכן 3">
            <a:extLst>
              <a:ext uri="{FF2B5EF4-FFF2-40B4-BE49-F238E27FC236}">
                <a16:creationId xmlns:a16="http://schemas.microsoft.com/office/drawing/2014/main" id="{30AC60BD-6A73-EBFE-06E2-312E937315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449848"/>
              </p:ext>
            </p:extLst>
          </p:nvPr>
        </p:nvGraphicFramePr>
        <p:xfrm>
          <a:off x="4308565" y="661130"/>
          <a:ext cx="6740435" cy="1126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67932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F70F0-54F4-E654-0D19-2D744BAE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9B3846-2B52-FAAB-4369-4137DF08C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4800" b="1" i="0" spc="300">
                <a:latin typeface="+mn-lt"/>
                <a:ea typeface="+mn-ea"/>
                <a:cs typeface="+mn-cs"/>
              </a:rPr>
              <a:t>Prioritized Sweeping</a:t>
            </a:r>
            <a:endParaRPr lang="he-IL" sz="4800" b="1" i="0" spc="30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654B8E4E-0D4C-DBF4-6628-5FC6BF2F3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 flipH="1">
                <a:off x="1143000" y="2009553"/>
                <a:ext cx="9906000" cy="4315045"/>
              </a:xfrm>
            </p:spPr>
            <p:txBody>
              <a:bodyPr>
                <a:normAutofit lnSpcReduction="10000"/>
              </a:bodyPr>
              <a:lstStyle/>
              <a:p>
                <a:pPr marL="0" indent="0" algn="l" rtl="0">
                  <a:buNone/>
                </a:pPr>
                <a:r>
                  <a:rPr lang="en-US"/>
                  <a:t>Standard SARSA only updates the current state-action pair.</a:t>
                </a:r>
              </a:p>
              <a:p>
                <a:pPr marL="0" indent="0" algn="l" rtl="0">
                  <a:buNone/>
                </a:pPr>
                <a:r>
                  <a:rPr lang="en-US" b="1"/>
                  <a:t>Key Idea</a:t>
                </a:r>
              </a:p>
              <a:p>
                <a:pPr algn="l" rtl="0"/>
                <a:r>
                  <a:rPr lang="en-US"/>
                  <a:t>Store observed transitions in an internal model</a:t>
                </a:r>
              </a:p>
              <a:p>
                <a:pPr algn="l" rtl="0"/>
                <a:r>
                  <a:rPr lang="en-US"/>
                  <a:t>Maintain a priority queue based on TD error</a:t>
                </a:r>
              </a:p>
              <a:p>
                <a:pPr algn="l" rtl="0"/>
                <a:r>
                  <a:rPr lang="en-US"/>
                  <a:t>Revisit important transitions during planning</a:t>
                </a:r>
              </a:p>
              <a:p>
                <a:pPr marL="0" indent="0" algn="l" rtl="0">
                  <a:buNone/>
                </a:pPr>
                <a:r>
                  <a:rPr lang="en-US" b="1"/>
                  <a:t>Priority</a:t>
                </a:r>
              </a:p>
              <a:p>
                <a:pPr marL="0" indent="0" algn="l" rtl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e-I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Priority</m:t>
                    </m:r>
                    <m:r>
                      <m:rPr>
                        <m:nor/>
                      </m:rPr>
                      <a:rPr lang="he-I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he-I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∣</m:t>
                    </m:r>
                    <m:r>
                      <m:rPr>
                        <m:nor/>
                      </m:rPr>
                      <a:rPr lang="he-I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he-IL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he-IL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smtClean="0"/>
                        <m:t>δ</m:t>
                      </m:r>
                      <m:r>
                        <m:rPr>
                          <m:nor/>
                        </m:rPr>
                        <a:rPr lang="he-IL" b="0" i="0" smtClean="0"/>
                        <m:t> </m:t>
                      </m:r>
                      <m:r>
                        <m:rPr>
                          <m:nor/>
                        </m:rPr>
                        <a:rPr lang="he-IL" b="0" i="0" smtClean="0"/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:r>
                  <a:rPr lang="en-US"/>
                  <a:t>Large TD errors indicate surprising experiences and are updated first.</a:t>
                </a: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654B8E4E-0D4C-DBF4-6628-5FC6BF2F3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 flipH="1">
                <a:off x="1143000" y="2009553"/>
                <a:ext cx="9906000" cy="4315045"/>
              </a:xfrm>
              <a:blipFill>
                <a:blip r:embed="rId3"/>
                <a:stretch>
                  <a:fillRect l="-985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C3F04A78-EA4F-88AC-03F7-5CEEEA95B5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227199"/>
              </p:ext>
            </p:extLst>
          </p:nvPr>
        </p:nvGraphicFramePr>
        <p:xfrm>
          <a:off x="7707085" y="2676876"/>
          <a:ext cx="3907970" cy="2544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3987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E233A7-BE85-11B6-CFFD-1D30E57D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4300" b="1" i="0" spc="300">
                <a:latin typeface="+mn-lt"/>
                <a:ea typeface="+mn-ea"/>
                <a:cs typeface="+mn-cs"/>
              </a:rPr>
              <a:t>Kernel Generalization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43186910-FE72-FD45-4AC2-1CDD731458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 rtl="0">
                  <a:buNone/>
                </a:pPr>
                <a:r>
                  <a:rPr lang="en-US" b="1"/>
                  <a:t>Motivation</a:t>
                </a:r>
                <a:endParaRPr lang="en-US"/>
              </a:p>
              <a:p>
                <a:pPr marL="0" indent="0" algn="l" rtl="0">
                  <a:buNone/>
                </a:pPr>
                <a:r>
                  <a:rPr lang="en-US"/>
                  <a:t>A single update affects only one state: (</a:t>
                </a:r>
                <a:r>
                  <a:rPr lang="en-US" err="1"/>
                  <a:t>s,a</a:t>
                </a:r>
                <a:r>
                  <a:rPr lang="en-US"/>
                  <a:t>)</a:t>
                </a:r>
              </a:p>
              <a:p>
                <a:pPr marL="0" indent="0" algn="l" rtl="0">
                  <a:buNone/>
                </a:pPr>
                <a:r>
                  <a:rPr lang="en-US"/>
                  <a:t>Can we also update similar states?</a:t>
                </a:r>
              </a:p>
              <a:p>
                <a:pPr marL="0" indent="0" algn="l" rtl="0">
                  <a:buNone/>
                </a:pPr>
                <a:r>
                  <a:rPr lang="en-US" b="1"/>
                  <a:t>Generalization Rule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⃪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b="1"/>
              </a:p>
              <a:p>
                <a:pPr marL="0" indent="0" algn="l" rtl="0">
                  <a:buNone/>
                </a:pPr>
                <a:r>
                  <a:rPr lang="en-US" b="1"/>
                  <a:t>Intuition</a:t>
                </a:r>
              </a:p>
              <a:p>
                <a:pPr marL="0" indent="0" algn="l" rtl="0">
                  <a:buNone/>
                </a:pPr>
                <a:r>
                  <a:rPr lang="en-US"/>
                  <a:t>Knowledge should "seep" into nearby states.</a:t>
                </a: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43186910-FE72-FD45-4AC2-1CDD731458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85"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72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76A8-D7CE-EDFC-D51D-B44C9D16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41F2A6-4935-036D-6434-AD2D4D57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4300" b="1" i="0" spc="300">
                <a:latin typeface="+mn-lt"/>
                <a:ea typeface="+mn-ea"/>
                <a:cs typeface="+mn-cs"/>
              </a:rPr>
              <a:t>Kernel Definition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CD55A2AD-7082-0A60-63C2-F84D799822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l" rtl="0">
                  <a:buNone/>
                </a:pPr>
                <a:r>
                  <a:rPr lang="en-US" b="1"/>
                  <a:t>Similarity Function</a:t>
                </a:r>
              </a:p>
              <a:p>
                <a:pPr marL="0" indent="0" algn="l" rtl="0">
                  <a:buNone/>
                </a:pPr>
                <a:r>
                  <a:rPr lang="en-US"/>
                  <a:t> We used: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:r>
                  <a:rPr lang="en-US"/>
                  <a:t>Updates are applied only when:</a:t>
                </a:r>
              </a:p>
              <a:p>
                <a:pPr algn="l" rtl="0"/>
                <a:r>
                  <a:rPr lang="en-US"/>
                  <a:t>Passenger status matches</a:t>
                </a:r>
              </a:p>
              <a:p>
                <a:pPr algn="l" rtl="0"/>
                <a:r>
                  <a:rPr lang="en-US"/>
                  <a:t>Destination matches</a:t>
                </a:r>
              </a:p>
              <a:p>
                <a:pPr marL="0" indent="0" algn="l" rtl="0">
                  <a:buNone/>
                </a:pPr>
                <a:r>
                  <a:rPr lang="en-US"/>
                  <a:t>Otherwise: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he-I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e-IL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/>
              </a:p>
              <a:p>
                <a:pPr marL="0" indent="0" algn="l" rtl="0">
                  <a:buNone/>
                </a:pPr>
                <a:r>
                  <a:rPr lang="en-US"/>
                  <a:t>Parameters</a:t>
                </a:r>
                <a:r>
                  <a:rPr lang="he-IL"/>
                  <a:t> 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CD55A2AD-7082-0A60-63C2-F84D79982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85" t="-2121" b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3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4087-3A56-0A54-BBA7-68071D96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מציין מיקום תוכן 5">
            <a:extLst>
              <a:ext uri="{FF2B5EF4-FFF2-40B4-BE49-F238E27FC236}">
                <a16:creationId xmlns:a16="http://schemas.microsoft.com/office/drawing/2014/main" id="{98C752B7-0737-45CD-AA8A-145E3B6ECE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01979" y="2414821"/>
            <a:ext cx="8260901" cy="44431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319DFE62-2ECC-01EE-3ACB-2F33CD99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Ablation Study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3">
                <a:extLst>
                  <a:ext uri="{FF2B5EF4-FFF2-40B4-BE49-F238E27FC236}">
                    <a16:creationId xmlns:a16="http://schemas.microsoft.com/office/drawing/2014/main" id="{619DBEBD-451C-A950-C149-A439120C467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 flipH="1">
                <a:off x="838200" y="1924493"/>
                <a:ext cx="6085114" cy="425247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l" rtl="0">
                  <a:buNone/>
                </a:pPr>
                <a:r>
                  <a:rPr lang="en-US"/>
                  <a:t>What is the individual contribution of planning (PS) and generalization (Kernel)?</a:t>
                </a:r>
              </a:p>
              <a:p>
                <a:pPr marL="0" indent="0" algn="l" rtl="0">
                  <a:buNone/>
                </a:pPr>
                <a:r>
                  <a:rPr lang="en-US" b="1"/>
                  <a:t>Experimental Setup</a:t>
                </a:r>
              </a:p>
              <a:p>
                <a:pPr algn="l" rtl="0"/>
                <a:r>
                  <a:rPr lang="en-US"/>
                  <a:t>Base Reward only</a:t>
                </a:r>
              </a:p>
              <a:p>
                <a:pPr algn="l" rtl="0"/>
                <a:r>
                  <a:rPr lang="en-US"/>
                  <a:t>500 training episodes</a:t>
                </a:r>
              </a:p>
              <a:p>
                <a:pPr algn="l" rtl="0"/>
                <a:r>
                  <a:rPr lang="en-US"/>
                  <a:t>α = 0.1</a:t>
                </a:r>
              </a:p>
              <a:p>
                <a:pPr algn="l" rtl="0"/>
                <a:r>
                  <a:rPr lang="en-US"/>
                  <a:t>γ = 0.99</a:t>
                </a:r>
              </a:p>
              <a:p>
                <a:pPr algn="l" rtl="0"/>
                <a:r>
                  <a:rPr lang="en-US"/>
                  <a:t>ε = 0.1</a:t>
                </a:r>
              </a:p>
              <a:p>
                <a:pPr algn="l" rtl="0"/>
                <a:r>
                  <a:rPr lang="en-US"/>
                  <a:t>PS planning steps: n=5</a:t>
                </a:r>
              </a:p>
              <a:p>
                <a:pPr algn="l" rtl="0"/>
                <a:r>
                  <a:rPr lang="en-US"/>
                  <a:t>Kernal parameters: 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he-IL"/>
              </a:p>
            </p:txBody>
          </p:sp>
        </mc:Choice>
        <mc:Fallback xmlns="">
          <p:sp>
            <p:nvSpPr>
              <p:cNvPr id="4" name="מציין מיקום תוכן 3">
                <a:extLst>
                  <a:ext uri="{FF2B5EF4-FFF2-40B4-BE49-F238E27FC236}">
                    <a16:creationId xmlns:a16="http://schemas.microsoft.com/office/drawing/2014/main" id="{619DBEBD-451C-A950-C149-A439120C4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 flipH="1">
                <a:off x="838200" y="1924493"/>
                <a:ext cx="6085114" cy="4252470"/>
              </a:xfrm>
              <a:blipFill>
                <a:blip r:embed="rId4"/>
                <a:stretch>
                  <a:fillRect l="-1303" t="-2439" r="-100" b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290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A21B5-3A60-EAC7-4CC2-66A4AC3F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F3AA91-050E-970B-585B-02406476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he-IL" sz="4300" b="1" i="0" spc="300" err="1">
                <a:latin typeface="+mn-lt"/>
                <a:ea typeface="+mn-ea"/>
                <a:cs typeface="+mn-cs"/>
              </a:rPr>
              <a:t>Reward</a:t>
            </a:r>
            <a:r>
              <a:rPr lang="he-IL" sz="4300" b="1" i="0" spc="30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err="1">
                <a:latin typeface="+mn-lt"/>
                <a:ea typeface="+mn-ea"/>
                <a:cs typeface="+mn-cs"/>
              </a:rPr>
              <a:t>Design</a:t>
            </a:r>
            <a:r>
              <a:rPr lang="he-IL" sz="4300" b="1" i="0" spc="30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err="1">
                <a:latin typeface="+mn-lt"/>
                <a:ea typeface="+mn-ea"/>
                <a:cs typeface="+mn-cs"/>
              </a:rPr>
              <a:t>Study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64FF5CB-B2F8-9BC5-06C4-E6B984C57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dirty="0"/>
              <a:t>How does reward design affect learning speed, convergence, and policy behavior?</a:t>
            </a:r>
          </a:p>
          <a:p>
            <a:pPr marL="0" indent="0" algn="l" rtl="0">
              <a:buNone/>
            </a:pPr>
            <a:r>
              <a:rPr lang="en-US" b="1" dirty="0"/>
              <a:t>Experimental Setup:</a:t>
            </a:r>
          </a:p>
          <a:p>
            <a:pPr algn="l" rtl="0"/>
            <a:r>
              <a:rPr lang="en-US" dirty="0"/>
              <a:t>SARSA + Prioritized Sweeping</a:t>
            </a:r>
          </a:p>
          <a:p>
            <a:pPr algn="l" rtl="0"/>
            <a:r>
              <a:rPr lang="en-US" dirty="0"/>
              <a:t>500 training episodes</a:t>
            </a:r>
          </a:p>
          <a:p>
            <a:pPr algn="l" rtl="0"/>
            <a:r>
              <a:rPr lang="en-US" dirty="0"/>
              <a:t>α = 0.1</a:t>
            </a:r>
          </a:p>
          <a:p>
            <a:pPr algn="l" rtl="0"/>
            <a:r>
              <a:rPr lang="en-US" dirty="0"/>
              <a:t>ε = 0.1</a:t>
            </a:r>
          </a:p>
          <a:p>
            <a:pPr algn="l" rtl="0"/>
            <a:r>
              <a:rPr lang="en-US" dirty="0"/>
              <a:t>Planning steps (n) = 5</a:t>
            </a:r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8CDA285D-2107-8A8F-97DE-009BEAA19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123469"/>
              </p:ext>
            </p:extLst>
          </p:nvPr>
        </p:nvGraphicFramePr>
        <p:xfrm flipH="1">
          <a:off x="5468981" y="3176724"/>
          <a:ext cx="6241870" cy="2436405"/>
        </p:xfrm>
        <a:graphic>
          <a:graphicData uri="http://schemas.openxmlformats.org/drawingml/2006/table">
            <a:tbl>
              <a:tblPr rtl="1" firstRow="1" bandRow="1">
                <a:tableStyleId>{0E3FDE45-AF77-4B5C-9715-49D594BDF05E}</a:tableStyleId>
              </a:tblPr>
              <a:tblGrid>
                <a:gridCol w="3120935">
                  <a:extLst>
                    <a:ext uri="{9D8B030D-6E8A-4147-A177-3AD203B41FA5}">
                      <a16:colId xmlns:a16="http://schemas.microsoft.com/office/drawing/2014/main" val="2897079284"/>
                    </a:ext>
                  </a:extLst>
                </a:gridCol>
                <a:gridCol w="3120935">
                  <a:extLst>
                    <a:ext uri="{9D8B030D-6E8A-4147-A177-3AD203B41FA5}">
                      <a16:colId xmlns:a16="http://schemas.microsoft.com/office/drawing/2014/main" val="2744768026"/>
                    </a:ext>
                  </a:extLst>
                </a:gridCol>
              </a:tblGrid>
              <a:tr h="385415">
                <a:tc>
                  <a:txBody>
                    <a:bodyPr/>
                    <a:lstStyle/>
                    <a:p>
                      <a:pPr algn="l" rtl="0"/>
                      <a:r>
                        <a:rPr lang="en-US"/>
                        <a:t>Main Idea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/>
                        <a:t>Reward Type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876489"/>
                  </a:ext>
                </a:extLst>
              </a:tr>
              <a:tr h="385415">
                <a:tc>
                  <a:txBody>
                    <a:bodyPr/>
                    <a:lstStyle/>
                    <a:p>
                      <a:pPr algn="l" rtl="0"/>
                      <a:r>
                        <a:rPr lang="en-US"/>
                        <a:t>Taxi-v4 default reward structure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/>
                        <a:t>Base Reward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101989"/>
                  </a:ext>
                </a:extLst>
              </a:tr>
              <a:tr h="637389">
                <a:tc>
                  <a:txBody>
                    <a:bodyPr/>
                    <a:lstStyle/>
                    <a:p>
                      <a:pPr algn="l" rtl="0"/>
                      <a:r>
                        <a:rPr lang="en-US"/>
                        <a:t>Reward only for successful pickup/</a:t>
                      </a:r>
                      <a:r>
                        <a:rPr lang="en-US" err="1"/>
                        <a:t>dropoff</a:t>
                      </a:r>
                      <a:r>
                        <a:rPr lang="en-US"/>
                        <a:t> +0.5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/>
                        <a:t>Sparse Reward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464205"/>
                  </a:ext>
                </a:extLst>
              </a:tr>
              <a:tr h="385415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Milestone rewards + stronger penalties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/>
                        <a:t>Reward 3</a:t>
                      </a:r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356862"/>
                  </a:ext>
                </a:extLst>
              </a:tr>
              <a:tr h="385415">
                <a:tc>
                  <a:txBody>
                    <a:bodyPr/>
                    <a:lstStyle/>
                    <a:p>
                      <a:pPr algn="l" rtl="0"/>
                      <a:r>
                        <a:rPr lang="en-US"/>
                        <a:t>Distance-based reward shaping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Reward 4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752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95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B1B70-AE17-1EBB-471C-DD33A7A7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0D43AC-D809-4B9E-FED6-B55BBDFD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4300" b="1" i="0" spc="300">
                <a:latin typeface="+mn-lt"/>
                <a:ea typeface="+mn-ea"/>
                <a:cs typeface="+mn-cs"/>
              </a:rPr>
              <a:t>Reward 3 - Milestone-Based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875166E-A79E-BA1F-94B4-AFECFDF41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dirty="0"/>
              <a:t>The default Taxi reward only provides a large reward at the end of the task.</a:t>
            </a:r>
          </a:p>
          <a:p>
            <a:pPr marL="0" indent="0" algn="l" rtl="0">
              <a:buNone/>
            </a:pPr>
            <a:r>
              <a:rPr lang="en-US" dirty="0"/>
              <a:t>Can learning be accelerated by rewarding intermediate progress?</a:t>
            </a:r>
          </a:p>
          <a:p>
            <a:pPr algn="l" rtl="0"/>
            <a:r>
              <a:rPr lang="en-US" dirty="0"/>
              <a:t>Dropoff: +</a:t>
            </a:r>
          </a:p>
          <a:p>
            <a:pPr algn="l" rtl="0"/>
            <a:r>
              <a:rPr lang="en-US" dirty="0"/>
              <a:t>Pickup: +</a:t>
            </a:r>
          </a:p>
          <a:p>
            <a:pPr algn="l" rtl="0"/>
            <a:r>
              <a:rPr lang="en-US" dirty="0"/>
              <a:t>Illegal: -</a:t>
            </a:r>
          </a:p>
          <a:p>
            <a:pPr algn="l" rtl="0"/>
            <a:r>
              <a:rPr lang="en-US" dirty="0"/>
              <a:t>Step: -</a:t>
            </a:r>
          </a:p>
        </p:txBody>
      </p:sp>
    </p:spTree>
    <p:extLst>
      <p:ext uri="{BB962C8B-B14F-4D97-AF65-F5344CB8AC3E}">
        <p14:creationId xmlns:p14="http://schemas.microsoft.com/office/powerpoint/2010/main" val="3112921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B037BF-E204-4EEA-597F-E2CF7DD6C539}"/>
              </a:ext>
            </a:extLst>
          </p:cNvPr>
          <p:cNvSpPr txBox="1">
            <a:spLocks/>
          </p:cNvSpPr>
          <p:nvPr/>
        </p:nvSpPr>
        <p:spPr>
          <a:xfrm flipH="1">
            <a:off x="997404" y="193767"/>
            <a:ext cx="4819922" cy="65967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 dirty="0">
                <a:latin typeface="+mn-lt"/>
                <a:ea typeface="+mn-ea"/>
                <a:cs typeface="+mn-cs"/>
              </a:rPr>
              <a:t>Reward 3 – V1</a:t>
            </a:r>
            <a:endParaRPr lang="he-IL" sz="4300" b="1" i="0" spc="3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98C4B820-9B48-E943-AD1C-A898D8BA0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2188" y="895146"/>
            <a:ext cx="5097600" cy="2944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9BA1D4B-4E95-BB86-1D48-762AD227B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8215" y="3687699"/>
            <a:ext cx="5098299" cy="29765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כותרת 1">
            <a:extLst>
              <a:ext uri="{FF2B5EF4-FFF2-40B4-BE49-F238E27FC236}">
                <a16:creationId xmlns:a16="http://schemas.microsoft.com/office/drawing/2014/main" id="{636D08BF-D4FF-35B7-CDA1-F80E15F22DDF}"/>
              </a:ext>
            </a:extLst>
          </p:cNvPr>
          <p:cNvSpPr txBox="1">
            <a:spLocks/>
          </p:cNvSpPr>
          <p:nvPr/>
        </p:nvSpPr>
        <p:spPr>
          <a:xfrm flipH="1">
            <a:off x="6679747" y="193767"/>
            <a:ext cx="4819922" cy="65967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3 – V2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E5D6DF0D-CBB5-6D68-5049-E31A3D2CB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06240" y="896133"/>
            <a:ext cx="5094182" cy="294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4170C24E-A2BF-27C0-9BFB-231B5D5372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40558" y="3687699"/>
            <a:ext cx="5098299" cy="29765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614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13A4D-65FF-B8D1-A91A-FF6D3FBE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9C04F9-27F1-713A-E847-177C9D476865}"/>
              </a:ext>
            </a:extLst>
          </p:cNvPr>
          <p:cNvSpPr txBox="1">
            <a:spLocks/>
          </p:cNvSpPr>
          <p:nvPr/>
        </p:nvSpPr>
        <p:spPr>
          <a:xfrm flipH="1">
            <a:off x="997404" y="193767"/>
            <a:ext cx="4819922" cy="65967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3 – V3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EF5D886C-3BBF-B598-A176-A1861C25D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3897" y="896133"/>
            <a:ext cx="5094182" cy="294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AD07C104-19CE-0473-A43D-7688EDE6D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8215" y="3687699"/>
            <a:ext cx="5098299" cy="29765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כותרת 1">
            <a:extLst>
              <a:ext uri="{FF2B5EF4-FFF2-40B4-BE49-F238E27FC236}">
                <a16:creationId xmlns:a16="http://schemas.microsoft.com/office/drawing/2014/main" id="{A302A950-25B5-EF65-FFAE-5E778E66DDD8}"/>
              </a:ext>
            </a:extLst>
          </p:cNvPr>
          <p:cNvSpPr txBox="1">
            <a:spLocks/>
          </p:cNvSpPr>
          <p:nvPr/>
        </p:nvSpPr>
        <p:spPr>
          <a:xfrm flipH="1">
            <a:off x="6679747" y="193767"/>
            <a:ext cx="4819922" cy="65967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3 – V4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0F0D4D7-F482-5110-4B9E-A0C258AD92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06240" y="896133"/>
            <a:ext cx="5094182" cy="294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897BAB5-B819-6D7C-79A7-80B50116E4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40559" y="3687699"/>
            <a:ext cx="5098297" cy="297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208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EAE4-F26D-8E41-6C70-2C9A89D34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00D794-3813-3AFD-D5FF-A45107E4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4300" b="1" i="0" spc="300">
                <a:latin typeface="+mn-lt"/>
                <a:ea typeface="+mn-ea"/>
                <a:cs typeface="+mn-cs"/>
              </a:rPr>
              <a:t>Reward 3 -</a:t>
            </a:r>
            <a:r>
              <a:rPr lang="he-IL" sz="4300" b="1" i="0" spc="300">
                <a:latin typeface="+mn-lt"/>
                <a:ea typeface="+mn-ea"/>
                <a:cs typeface="+mn-cs"/>
              </a:rPr>
              <a:t> </a:t>
            </a:r>
            <a:r>
              <a:rPr lang="en-US" sz="4300" b="1" i="0" spc="300">
                <a:latin typeface="+mn-lt"/>
                <a:ea typeface="+mn-ea"/>
                <a:cs typeface="+mn-cs"/>
              </a:rPr>
              <a:t>Preliminary Findings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DCB4F8-2B74-DD6D-A50E-AE092C61B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/>
              <a:t>Best Performing Configuration - </a:t>
            </a:r>
            <a:r>
              <a:rPr lang="en-US" b="1"/>
              <a:t>R3_V3</a:t>
            </a:r>
          </a:p>
          <a:p>
            <a:pPr algn="l" rtl="0"/>
            <a:r>
              <a:rPr lang="en-US"/>
              <a:t>Converged more consistently than other variants</a:t>
            </a:r>
          </a:p>
          <a:p>
            <a:pPr algn="l" rtl="0"/>
            <a:r>
              <a:rPr lang="en-US"/>
              <a:t>Reduced illegal actions</a:t>
            </a:r>
          </a:p>
          <a:p>
            <a:pPr algn="l" rtl="0"/>
            <a:r>
              <a:rPr lang="en-US"/>
              <a:t>Reached an average trajectory length of ~65 steps</a:t>
            </a:r>
          </a:p>
          <a:p>
            <a:pPr algn="l" rtl="0"/>
            <a:r>
              <a:rPr lang="en-US"/>
              <a:t>Performed closest to the Base Reward baseline</a:t>
            </a:r>
          </a:p>
          <a:p>
            <a:pPr marL="0" indent="0" algn="l" rtl="0">
              <a:buNone/>
            </a:pPr>
            <a:r>
              <a:rPr lang="en-US" b="1"/>
              <a:t>Key Observation:</a:t>
            </a:r>
          </a:p>
          <a:p>
            <a:pPr marL="0" indent="0" algn="l" rtl="0">
              <a:buNone/>
            </a:pPr>
            <a:r>
              <a:rPr lang="en-US"/>
              <a:t>#1 Excessive Penalties Harm Learning</a:t>
            </a:r>
            <a:endParaRPr lang="he-IL"/>
          </a:p>
          <a:p>
            <a:pPr marL="0" indent="0" algn="l" rtl="0">
              <a:buNone/>
            </a:pPr>
            <a:r>
              <a:rPr lang="en-US"/>
              <a:t>#2 Step Penalties Must Be Balanced</a:t>
            </a:r>
          </a:p>
        </p:txBody>
      </p:sp>
    </p:spTree>
    <p:extLst>
      <p:ext uri="{BB962C8B-B14F-4D97-AF65-F5344CB8AC3E}">
        <p14:creationId xmlns:p14="http://schemas.microsoft.com/office/powerpoint/2010/main" val="1394326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96CF1-9A0E-1CB2-36EE-F80B170C6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77A5B5C-4780-46A2-64CF-AF6C6B2C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4300" b="1" i="0" spc="300">
                <a:latin typeface="+mn-lt"/>
                <a:ea typeface="+mn-ea"/>
                <a:cs typeface="+mn-cs"/>
              </a:rPr>
              <a:t>Reward 4 - Distance-based</a:t>
            </a:r>
            <a:br>
              <a:rPr lang="he-IL" sz="4000"/>
            </a:b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11BFC8-9C82-3B42-DD19-8BA1234E2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dirty="0"/>
              <a:t>The default Taxi reward only provides a large reward at the end of the task.</a:t>
            </a:r>
          </a:p>
          <a:p>
            <a:pPr marL="0" indent="0" algn="l" rtl="0">
              <a:buNone/>
            </a:pPr>
            <a:r>
              <a:rPr lang="en-US" dirty="0"/>
              <a:t>Can we guide the agent more continuously throughout the task?</a:t>
            </a:r>
          </a:p>
          <a:p>
            <a:pPr algn="l" rtl="0"/>
            <a:r>
              <a:rPr lang="en-US" dirty="0"/>
              <a:t>Dropoff: +</a:t>
            </a:r>
          </a:p>
          <a:p>
            <a:pPr algn="l" rtl="0"/>
            <a:r>
              <a:rPr lang="en-US" dirty="0"/>
              <a:t>Pickup: +</a:t>
            </a:r>
          </a:p>
          <a:p>
            <a:pPr algn="l" rtl="0"/>
            <a:r>
              <a:rPr lang="en-US" dirty="0"/>
              <a:t>Illegal: -</a:t>
            </a:r>
          </a:p>
          <a:p>
            <a:pPr algn="l" rtl="0"/>
            <a:r>
              <a:rPr lang="en-US" dirty="0"/>
              <a:t>Closer: +</a:t>
            </a:r>
          </a:p>
          <a:p>
            <a:pPr algn="l" rtl="0"/>
            <a:r>
              <a:rPr lang="en-US" dirty="0"/>
              <a:t>Further: -</a:t>
            </a:r>
          </a:p>
          <a:p>
            <a:pPr algn="l" rtl="0"/>
            <a:r>
              <a:rPr lang="en-US" dirty="0"/>
              <a:t>Neutral: -</a:t>
            </a:r>
          </a:p>
        </p:txBody>
      </p:sp>
    </p:spTree>
    <p:extLst>
      <p:ext uri="{BB962C8B-B14F-4D97-AF65-F5344CB8AC3E}">
        <p14:creationId xmlns:p14="http://schemas.microsoft.com/office/powerpoint/2010/main" val="575470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24349-D322-5B75-A4B0-E0CF2026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48ED706-F0FD-50D2-866B-D0A72D308E41}"/>
              </a:ext>
            </a:extLst>
          </p:cNvPr>
          <p:cNvSpPr txBox="1">
            <a:spLocks/>
          </p:cNvSpPr>
          <p:nvPr/>
        </p:nvSpPr>
        <p:spPr>
          <a:xfrm flipH="1">
            <a:off x="997404" y="193767"/>
            <a:ext cx="4819922" cy="65967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4 – V1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BF333E4-3769-D8D8-A85C-372677A3A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3897" y="896133"/>
            <a:ext cx="5094182" cy="294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A0673A5B-7456-4CE9-5DF7-767070F0FD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8215" y="3687699"/>
            <a:ext cx="5098299" cy="29765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כותרת 1">
            <a:extLst>
              <a:ext uri="{FF2B5EF4-FFF2-40B4-BE49-F238E27FC236}">
                <a16:creationId xmlns:a16="http://schemas.microsoft.com/office/drawing/2014/main" id="{F3D1AFC9-5BBA-1276-2518-327B04E2DE41}"/>
              </a:ext>
            </a:extLst>
          </p:cNvPr>
          <p:cNvSpPr txBox="1">
            <a:spLocks/>
          </p:cNvSpPr>
          <p:nvPr/>
        </p:nvSpPr>
        <p:spPr>
          <a:xfrm flipH="1">
            <a:off x="6679747" y="193767"/>
            <a:ext cx="4819922" cy="65967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4 – V2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3C0B5A6-9A18-53B0-4700-2A17EA49B9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06240" y="896133"/>
            <a:ext cx="5094182" cy="294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AAFEF5A-26AA-6DA4-0147-1102C22E74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40559" y="3687699"/>
            <a:ext cx="5098297" cy="297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1506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4CC8-BF43-35E1-39C6-558A0C51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7531033-7CA8-CAA7-1D09-681D7D90253F}"/>
              </a:ext>
            </a:extLst>
          </p:cNvPr>
          <p:cNvSpPr txBox="1">
            <a:spLocks/>
          </p:cNvSpPr>
          <p:nvPr/>
        </p:nvSpPr>
        <p:spPr>
          <a:xfrm flipH="1">
            <a:off x="997404" y="193767"/>
            <a:ext cx="4819922" cy="65967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4 – V3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D5A5096-D5F9-C840-19D2-6F02E3C2F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3897" y="896133"/>
            <a:ext cx="5094182" cy="294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420B0E96-B0FC-6284-0285-C956FAB0D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8215" y="3687699"/>
            <a:ext cx="5098299" cy="29765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כותרת 1">
            <a:extLst>
              <a:ext uri="{FF2B5EF4-FFF2-40B4-BE49-F238E27FC236}">
                <a16:creationId xmlns:a16="http://schemas.microsoft.com/office/drawing/2014/main" id="{52D68973-8261-70B2-3642-2C4DA2EE3D7F}"/>
              </a:ext>
            </a:extLst>
          </p:cNvPr>
          <p:cNvSpPr txBox="1">
            <a:spLocks/>
          </p:cNvSpPr>
          <p:nvPr/>
        </p:nvSpPr>
        <p:spPr>
          <a:xfrm flipH="1">
            <a:off x="6679747" y="193767"/>
            <a:ext cx="4819922" cy="659673"/>
          </a:xfrm>
          <a:prstGeom prst="rect">
            <a:avLst/>
          </a:prstGeom>
        </p:spPr>
        <p:txBody>
          <a:bodyPr/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4 – V4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8A690C9-55A4-DA60-2BD5-1CCA7448FD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06240" y="896133"/>
            <a:ext cx="5094182" cy="294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0B41810-384D-8A99-AAB6-0E98EEC6D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40559" y="3687699"/>
            <a:ext cx="5098297" cy="2976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4091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9B0D1-F5C5-9676-39B7-0895C5A9D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FA18C0-9073-6D79-E295-8B858FCE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4300" b="1" i="0" spc="300">
                <a:latin typeface="+mn-lt"/>
                <a:ea typeface="+mn-ea"/>
                <a:cs typeface="+mn-cs"/>
              </a:rPr>
              <a:t>Reward 4 -</a:t>
            </a:r>
            <a:r>
              <a:rPr lang="he-IL" sz="4300" b="1" i="0" spc="300">
                <a:latin typeface="+mn-lt"/>
                <a:ea typeface="+mn-ea"/>
                <a:cs typeface="+mn-cs"/>
              </a:rPr>
              <a:t> </a:t>
            </a:r>
            <a:r>
              <a:rPr lang="en-US" sz="4300" b="1" i="0" spc="300">
                <a:latin typeface="+mn-lt"/>
                <a:ea typeface="+mn-ea"/>
                <a:cs typeface="+mn-cs"/>
              </a:rPr>
              <a:t>Preliminary Findings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762FA0B-090A-1414-D9FC-5119B388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/>
              <a:t>Best Performing Configuration – </a:t>
            </a:r>
            <a:r>
              <a:rPr lang="en-US" b="1"/>
              <a:t>R4_V1</a:t>
            </a:r>
          </a:p>
          <a:p>
            <a:pPr marL="0" indent="0" algn="l" rtl="0">
              <a:buNone/>
            </a:pPr>
            <a:r>
              <a:rPr lang="en-US" b="1"/>
              <a:t>Key Observation:</a:t>
            </a:r>
          </a:p>
          <a:p>
            <a:pPr marL="0" indent="0" algn="l" rtl="0">
              <a:buNone/>
            </a:pPr>
            <a:r>
              <a:rPr lang="en-US"/>
              <a:t>#1 Parameter Insensitivity</a:t>
            </a:r>
            <a:endParaRPr lang="he-IL"/>
          </a:p>
          <a:p>
            <a:pPr marL="0" indent="0" algn="l" rtl="0">
              <a:buNone/>
            </a:pPr>
            <a:r>
              <a:rPr lang="en-US"/>
              <a:t>#2 Early Learning Plateau</a:t>
            </a:r>
          </a:p>
          <a:p>
            <a:pPr marL="0" indent="0" algn="l" rtl="0">
              <a:buNone/>
            </a:pPr>
            <a:r>
              <a:rPr lang="en-US"/>
              <a:t>#3 Persistent Illegal Actions</a:t>
            </a:r>
          </a:p>
        </p:txBody>
      </p:sp>
    </p:spTree>
    <p:extLst>
      <p:ext uri="{BB962C8B-B14F-4D97-AF65-F5344CB8AC3E}">
        <p14:creationId xmlns:p14="http://schemas.microsoft.com/office/powerpoint/2010/main" val="315336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B1875A-42EC-FAA1-D448-3A5687D3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3000" y="533401"/>
            <a:ext cx="9906000" cy="859970"/>
          </a:xfrm>
        </p:spPr>
        <p:txBody>
          <a:bodyPr/>
          <a:lstStyle/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Policy Evaluation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CA6DAFF5-5191-C239-B445-30027D2E91D8}"/>
                  </a:ext>
                </a:extLst>
              </p:cNvPr>
              <p:cNvSpPr txBox="1"/>
              <p:nvPr/>
            </p:nvSpPr>
            <p:spPr>
              <a:xfrm>
                <a:off x="4757043" y="1393371"/>
                <a:ext cx="26779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𝑎𝑟𝑔𝑚𝑎𝑥𝑄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CA6DAFF5-5191-C239-B445-30027D2E9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043" y="1393371"/>
                <a:ext cx="2677913" cy="369332"/>
              </a:xfrm>
              <a:prstGeom prst="rect">
                <a:avLst/>
              </a:prstGeom>
              <a:blipFill>
                <a:blip r:embed="rId3"/>
                <a:stretch>
                  <a:fillRect l="-682" r="-3182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כותרת 1">
            <a:extLst>
              <a:ext uri="{FF2B5EF4-FFF2-40B4-BE49-F238E27FC236}">
                <a16:creationId xmlns:a16="http://schemas.microsoft.com/office/drawing/2014/main" id="{23BD99FB-4F86-61D0-DF9F-FBCF8C8CF7B3}"/>
              </a:ext>
            </a:extLst>
          </p:cNvPr>
          <p:cNvSpPr txBox="1">
            <a:spLocks/>
          </p:cNvSpPr>
          <p:nvPr/>
        </p:nvSpPr>
        <p:spPr>
          <a:xfrm flipH="1">
            <a:off x="392256" y="4799512"/>
            <a:ext cx="3345320" cy="859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he-IL" sz="3300" b="1" i="0" spc="300" err="1">
                <a:latin typeface="+mn-lt"/>
                <a:ea typeface="+mn-ea"/>
                <a:cs typeface="+mn-cs"/>
              </a:rPr>
              <a:t>Base</a:t>
            </a:r>
            <a:r>
              <a:rPr lang="he-IL" sz="3300" b="1" i="0" spc="300">
                <a:latin typeface="+mn-lt"/>
                <a:ea typeface="+mn-ea"/>
                <a:cs typeface="+mn-cs"/>
              </a:rPr>
              <a:t> </a:t>
            </a:r>
            <a:r>
              <a:rPr lang="he-IL" sz="3300" b="1" i="0" spc="300" err="1">
                <a:latin typeface="+mn-lt"/>
                <a:ea typeface="+mn-ea"/>
                <a:cs typeface="+mn-cs"/>
              </a:rPr>
              <a:t>Reward</a:t>
            </a:r>
            <a:endParaRPr lang="he-IL" sz="3300" b="1" i="0" spc="300">
              <a:latin typeface="+mn-lt"/>
              <a:ea typeface="+mn-ea"/>
              <a:cs typeface="+mn-cs"/>
            </a:endParaRPr>
          </a:p>
        </p:txBody>
      </p:sp>
      <p:sp>
        <p:nvSpPr>
          <p:cNvPr id="13" name="כותרת 1">
            <a:extLst>
              <a:ext uri="{FF2B5EF4-FFF2-40B4-BE49-F238E27FC236}">
                <a16:creationId xmlns:a16="http://schemas.microsoft.com/office/drawing/2014/main" id="{DE9E4A88-AD8C-E60B-CECA-B52DCC43B20A}"/>
              </a:ext>
            </a:extLst>
          </p:cNvPr>
          <p:cNvSpPr txBox="1">
            <a:spLocks/>
          </p:cNvSpPr>
          <p:nvPr/>
        </p:nvSpPr>
        <p:spPr>
          <a:xfrm flipH="1">
            <a:off x="4423339" y="4799512"/>
            <a:ext cx="3345320" cy="859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3 (v3)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sp>
        <p:nvSpPr>
          <p:cNvPr id="14" name="כותרת 1">
            <a:extLst>
              <a:ext uri="{FF2B5EF4-FFF2-40B4-BE49-F238E27FC236}">
                <a16:creationId xmlns:a16="http://schemas.microsoft.com/office/drawing/2014/main" id="{9B3896F6-9953-4D30-C074-4A5BB394403F}"/>
              </a:ext>
            </a:extLst>
          </p:cNvPr>
          <p:cNvSpPr txBox="1">
            <a:spLocks/>
          </p:cNvSpPr>
          <p:nvPr/>
        </p:nvSpPr>
        <p:spPr>
          <a:xfrm flipH="1">
            <a:off x="8454422" y="4799512"/>
            <a:ext cx="3345320" cy="859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en-US" sz="4300" b="1" i="0" spc="300">
                <a:latin typeface="+mn-lt"/>
                <a:ea typeface="+mn-ea"/>
                <a:cs typeface="+mn-cs"/>
              </a:rPr>
              <a:t>REWARD 4 (v1)</a:t>
            </a:r>
            <a:endParaRPr lang="he-IL" sz="4300" b="1" i="0" spc="300">
              <a:latin typeface="+mn-lt"/>
              <a:ea typeface="+mn-ea"/>
              <a:cs typeface="+mn-cs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DE0FCDFC-F835-72AA-1D8B-D42320BA3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4" y="2512420"/>
            <a:ext cx="3345319" cy="2128839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5C15881B-F124-039F-FAA4-AD78BA538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340" y="2512420"/>
            <a:ext cx="3345319" cy="2128839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FEE54330-29DE-ADCF-030F-60C1D6E778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422" y="2512420"/>
            <a:ext cx="3345319" cy="21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03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AC7A-6D3F-D26C-C7F7-E3CF15AE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2C24E9-2CAF-B68B-02E4-A9AAD4105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4300" b="1" i="0" spc="300" dirty="0"/>
              <a:t>Reward 3 </a:t>
            </a:r>
            <a:r>
              <a:rPr lang="he-IL" sz="4300" b="1" i="0" spc="300" dirty="0"/>
              <a:t> -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Extended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Training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Solves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the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Problem</a:t>
            </a:r>
            <a:endParaRPr lang="he-IL" sz="4300" b="1" i="0" spc="3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A70E424D-831F-B425-EACA-94C18348C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0951" y="1915556"/>
            <a:ext cx="7674089" cy="4337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09F0195E-2F43-C9D5-E051-D802FEC7D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040" y="2855062"/>
            <a:ext cx="3862859" cy="245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27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D69F-5681-9EC4-7B26-E233549F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C7B8F41-1121-F849-F241-86F3ABEA3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58262" y="54708"/>
            <a:ext cx="9906000" cy="843223"/>
          </a:xfrm>
        </p:spPr>
        <p:txBody>
          <a:bodyPr/>
          <a:lstStyle/>
          <a:p>
            <a:pPr algn="l" rtl="0"/>
            <a:r>
              <a:rPr lang="en-US" sz="4300" b="1" i="0" spc="300" dirty="0">
                <a:latin typeface="+mn-lt"/>
                <a:ea typeface="+mn-ea"/>
                <a:cs typeface="+mn-cs"/>
              </a:rPr>
              <a:t>Why Reward 4 Failed</a:t>
            </a:r>
            <a:endParaRPr lang="he-IL" sz="4300" b="1" i="0" spc="30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96BA37D-7667-A936-185F-585756A2567F}"/>
              </a:ext>
            </a:extLst>
          </p:cNvPr>
          <p:cNvSpPr txBox="1">
            <a:spLocks/>
          </p:cNvSpPr>
          <p:nvPr/>
        </p:nvSpPr>
        <p:spPr>
          <a:xfrm flipH="1">
            <a:off x="158261" y="719434"/>
            <a:ext cx="8965641" cy="2124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b="1" dirty="0"/>
              <a:t>Final Conclusion</a:t>
            </a:r>
          </a:p>
          <a:p>
            <a:pPr marL="0" indent="0" algn="l" rtl="0">
              <a:buNone/>
            </a:pPr>
            <a:r>
              <a:rPr lang="en-US" dirty="0"/>
              <a:t>The agent learned the reward function, not the task.</a:t>
            </a:r>
          </a:p>
          <a:p>
            <a:pPr marL="0" indent="0" algn="l" rtl="0">
              <a:buNone/>
            </a:pPr>
            <a:r>
              <a:rPr lang="en-US" dirty="0"/>
              <a:t>The policy image shows recurring loops and local minima, especially during the </a:t>
            </a:r>
            <a:r>
              <a:rPr lang="en-US" dirty="0" err="1"/>
              <a:t>dropoff</a:t>
            </a:r>
            <a:r>
              <a:rPr lang="en-US" dirty="0"/>
              <a:t> phase.</a:t>
            </a:r>
            <a:endParaRPr lang="he-IL" b="1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C67FBD92-2A3F-3BFE-5457-144243D02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15094" y="2957020"/>
            <a:ext cx="6927727" cy="3562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BCF656D5-B747-B3E9-5E0B-567DF6D55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913" y="2957019"/>
            <a:ext cx="5148715" cy="2911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2002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F4809AEC-8AB7-6E4B-023B-73C979E6770A}"/>
              </a:ext>
            </a:extLst>
          </p:cNvPr>
          <p:cNvSpPr txBox="1"/>
          <p:nvPr/>
        </p:nvSpPr>
        <p:spPr>
          <a:xfrm>
            <a:off x="-1792125" y="1005609"/>
            <a:ext cx="826892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Steps Over Training: SARSA VS SARSA + PS</a:t>
            </a:r>
            <a:endParaRPr lang="he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9117EA-8F51-1739-93D8-2CA480F99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9" y="2007076"/>
            <a:ext cx="5224986" cy="284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A961B42-7B64-9099-04EB-35DFD85F3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07076"/>
            <a:ext cx="5224986" cy="284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כותרת 1">
                <a:extLst>
                  <a:ext uri="{FF2B5EF4-FFF2-40B4-BE49-F238E27FC236}">
                    <a16:creationId xmlns:a16="http://schemas.microsoft.com/office/drawing/2014/main" id="{726860E9-D0E8-465C-FFE5-54DCBF241A9E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15413" y="314531"/>
                <a:ext cx="9906000" cy="1382156"/>
              </a:xfrm>
              <a:prstGeom prst="rect">
                <a:avLst/>
              </a:prstGeom>
            </p:spPr>
            <p:txBody>
              <a:bodyPr/>
              <a:lstStyle>
                <a:lvl1pPr algn="r" defTabSz="914400" rtl="1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i="1" kern="1200" cap="all" baseline="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 rtl="0"/>
                <a:r>
                  <a:rPr lang="en-US" sz="4300" b="1" i="0" spc="300" dirty="0">
                    <a:latin typeface="+mn-lt"/>
                    <a:ea typeface="+mn-ea"/>
                    <a:cs typeface="+mn-cs"/>
                  </a:rPr>
                  <a:t>Exploration Study: Effect of </a:t>
                </a:r>
                <a14:m>
                  <m:oMath xmlns:m="http://schemas.openxmlformats.org/officeDocument/2006/math">
                    <m:r>
                      <a:rPr lang="en-US" sz="4300" b="1" spc="3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𝜺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4" name="כותרת 1">
                <a:extLst>
                  <a:ext uri="{FF2B5EF4-FFF2-40B4-BE49-F238E27FC236}">
                    <a16:creationId xmlns:a16="http://schemas.microsoft.com/office/drawing/2014/main" id="{726860E9-D0E8-465C-FFE5-54DCBF241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5413" y="314531"/>
                <a:ext cx="9906000" cy="1382156"/>
              </a:xfrm>
              <a:prstGeom prst="rect">
                <a:avLst/>
              </a:prstGeom>
              <a:blipFill>
                <a:blip r:embed="rId4"/>
                <a:stretch>
                  <a:fillRect l="-2400" t="-1371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A3921B88-6110-9D76-60A5-6CC525F84325}"/>
                  </a:ext>
                </a:extLst>
              </p:cNvPr>
              <p:cNvSpPr txBox="1"/>
              <p:nvPr/>
            </p:nvSpPr>
            <p:spPr>
              <a:xfrm>
                <a:off x="6961632" y="1168474"/>
                <a:ext cx="5230368" cy="64633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/>
                  <a:t>Tested Values: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he-IL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A3921B88-6110-9D76-60A5-6CC525F84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632" y="1168474"/>
                <a:ext cx="5230368" cy="646331"/>
              </a:xfrm>
              <a:prstGeom prst="rect">
                <a:avLst/>
              </a:prstGeom>
              <a:blipFill>
                <a:blip r:embed="rId5"/>
                <a:stretch>
                  <a:fillRect l="-932" t="-471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251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562D9-59D4-C39F-60F5-CD42CC1F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E8DC60C-E93F-9E18-2CB5-712621A46CE5}"/>
              </a:ext>
            </a:extLst>
          </p:cNvPr>
          <p:cNvSpPr txBox="1"/>
          <p:nvPr/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1" kern="1200" cap="all" spc="300" baseline="0" dirty="0">
                <a:solidFill>
                  <a:schemeClr val="tx2"/>
                </a:solidFill>
              </a:rPr>
              <a:t>Reward Over Training: SARSA VS SARSA + PS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5DB1445C-812D-7B54-9034-6279107904F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658173"/>
            <a:ext cx="5181600" cy="278511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A4DA413-C284-BD7E-9443-4AB79DC7E42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57028"/>
            <a:ext cx="5181600" cy="2786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59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172EEC05-4F51-FE91-E6B4-729B4D755F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 rtl="0"/>
                <a:r>
                  <a:rPr lang="en-US" sz="4300" b="1" i="0" spc="300" dirty="0">
                    <a:latin typeface="+mn-lt"/>
                    <a:ea typeface="+mn-ea"/>
                    <a:cs typeface="+mn-cs"/>
                  </a:rPr>
                  <a:t>Exploration Study: Effect of </a:t>
                </a:r>
                <a14:m>
                  <m:oMath xmlns:m="http://schemas.openxmlformats.org/officeDocument/2006/math">
                    <m:r>
                      <a:rPr lang="en-US" sz="4300" b="1" i="1" spc="3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𝜺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2" name="כותרת 1">
                <a:extLst>
                  <a:ext uri="{FF2B5EF4-FFF2-40B4-BE49-F238E27FC236}">
                    <a16:creationId xmlns:a16="http://schemas.microsoft.com/office/drawing/2014/main" id="{172EEC05-4F51-FE91-E6B4-729B4D755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DBF3AE2-B7FE-69AC-EA16-7C663F65A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 rtl="0">
                  <a:buNone/>
                </a:pPr>
                <a:r>
                  <a:rPr lang="en-US" b="1" dirty="0"/>
                  <a:t>Tested Values: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he-IL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0" indent="0" algn="l" rtl="0">
                  <a:buNone/>
                </a:pPr>
                <a:r>
                  <a:rPr lang="en-US" b="1" dirty="0"/>
                  <a:t>Main Finding: </a:t>
                </a:r>
                <a:r>
                  <a:rPr lang="en-US" dirty="0"/>
                  <a:t>ε = 0.01 was the best overall value.</a:t>
                </a:r>
              </a:p>
              <a:p>
                <a:pPr marL="0" indent="0" algn="l" rtl="0">
                  <a:buNone/>
                </a:pPr>
                <a:r>
                  <a:rPr lang="en-US" b="1" dirty="0"/>
                  <a:t>Key Insight: </a:t>
                </a:r>
                <a:r>
                  <a:rPr lang="en-US" dirty="0"/>
                  <a:t>Too much exploration hurt performance.</a:t>
                </a:r>
              </a:p>
              <a:p>
                <a:pPr marL="0" indent="0" algn="l" rtl="0">
                  <a:buNone/>
                </a:pPr>
                <a:r>
                  <a:rPr lang="en-US" dirty="0"/>
                  <a:t>The agent did not need many random actions in the deterministic Taxi environment.</a:t>
                </a:r>
              </a:p>
              <a:p>
                <a:pPr marL="0" indent="0" algn="l" rtl="0">
                  <a:buNone/>
                </a:pPr>
                <a:r>
                  <a:rPr lang="en-US" b="1" dirty="0"/>
                  <a:t>Conclusion: </a:t>
                </a:r>
                <a:r>
                  <a:rPr lang="en-US" dirty="0"/>
                  <a:t>Small exploration was enough to learn,</a:t>
                </a:r>
              </a:p>
              <a:p>
                <a:pPr marL="0" indent="0" algn="l" rtl="0">
                  <a:buNone/>
                </a:pPr>
                <a:r>
                  <a:rPr lang="en-US" dirty="0"/>
                  <a:t>while larger ε values made the policy less stable.</a:t>
                </a:r>
                <a:endParaRPr lang="he-IL" dirty="0"/>
              </a:p>
              <a:p>
                <a:pPr marL="0" indent="0" algn="l" rtl="0">
                  <a:buNone/>
                </a:pPr>
                <a:endParaRPr lang="he-IL" b="0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DBF3AE2-B7FE-69AC-EA16-7C663F65A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85" t="-10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495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324BA-3027-19FA-32C3-062ED68D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6B4CC768-E060-0F65-510C-E35CCF846937}"/>
              </a:ext>
            </a:extLst>
          </p:cNvPr>
          <p:cNvSpPr txBox="1"/>
          <p:nvPr/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i="1" kern="1200" cap="all" baseline="0" dirty="0">
                <a:solidFill>
                  <a:schemeClr val="tx2"/>
                </a:solidFill>
              </a:rPr>
              <a:t>Steps over training: SARSA + PS VS SARSA + PS + Kernel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1335F1E-59B9-8B43-474E-70DE25BD967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25" y="2640389"/>
            <a:ext cx="5751576" cy="313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C21C02FD-5057-7BA9-DF57-22CB07FFAE0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2640388"/>
            <a:ext cx="5751574" cy="313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B5CB4642-5F7F-EA5F-6A75-440D3980C3EF}"/>
                  </a:ext>
                </a:extLst>
              </p:cNvPr>
              <p:cNvSpPr txBox="1"/>
              <p:nvPr/>
            </p:nvSpPr>
            <p:spPr>
              <a:xfrm>
                <a:off x="1216152" y="1592391"/>
                <a:ext cx="4498848" cy="64633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/>
                  <a:t>Tested Values: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he-IL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B5CB4642-5F7F-EA5F-6A75-440D3980C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52" y="1592391"/>
                <a:ext cx="4498848" cy="646331"/>
              </a:xfrm>
              <a:prstGeom prst="rect">
                <a:avLst/>
              </a:prstGeom>
              <a:blipFill>
                <a:blip r:embed="rId4"/>
                <a:stretch>
                  <a:fillRect l="-1220" t="-377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214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7CD7C-5731-039A-2109-7E60B1E7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AE3E2945-4DD4-C469-BC06-DD46244C77C7}"/>
              </a:ext>
            </a:extLst>
          </p:cNvPr>
          <p:cNvSpPr txBox="1"/>
          <p:nvPr/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i="1" kern="1200" cap="all" baseline="0" dirty="0">
                <a:solidFill>
                  <a:schemeClr val="tx2"/>
                </a:solidFill>
              </a:rPr>
              <a:t>REWARD OVER TRAINING: SARSA + PS VS SARSA + PS + Kernel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EBE5FE2-2199-A33D-D1A3-C3EAC57A4E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57028"/>
            <a:ext cx="5181600" cy="2786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8540C793-1F4F-579B-C073-F729881CAA3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657028"/>
            <a:ext cx="5181600" cy="2786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395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F69D4-0A34-6149-69C8-2022D89D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D41AFF-9721-F27D-7AB9-E03B05F6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sz="4300" b="1" i="0" spc="300" dirty="0">
                <a:latin typeface="+mn-lt"/>
                <a:ea typeface="+mn-ea"/>
                <a:cs typeface="+mn-cs"/>
              </a:rPr>
              <a:t>Planning Study: Effect of Planning Steps (n)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DE973720-84E0-7376-50A7-93FF44FD13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 rtl="0">
                  <a:buNone/>
                </a:pPr>
                <a:r>
                  <a:rPr lang="en-US" b="1" dirty="0"/>
                  <a:t>Tested Values: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he-IL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0" indent="0" algn="l" rtl="0">
                  <a:buNone/>
                </a:pPr>
                <a:r>
                  <a:rPr lang="en-US" b="1" dirty="0"/>
                  <a:t>Main Finding: </a:t>
                </a:r>
                <a:r>
                  <a:rPr lang="en-US" dirty="0"/>
                  <a:t>n = 20 was the best overall value.</a:t>
                </a:r>
              </a:p>
              <a:p>
                <a:pPr marL="0" indent="0" algn="l" rtl="0">
                  <a:buNone/>
                </a:pPr>
                <a:r>
                  <a:rPr lang="en-US" b="1" dirty="0"/>
                  <a:t>Key Insight: </a:t>
                </a:r>
                <a:r>
                  <a:rPr lang="en-US" dirty="0"/>
                  <a:t>More planning helped the agent learn from each real experience more effectively.</a:t>
                </a:r>
              </a:p>
              <a:p>
                <a:pPr marL="0" indent="0" algn="l" rtl="0">
                  <a:buNone/>
                </a:pPr>
                <a:r>
                  <a:rPr lang="en-US" b="1" dirty="0"/>
                  <a:t>Conclusion: </a:t>
                </a:r>
                <a:r>
                  <a:rPr lang="en-US" dirty="0"/>
                  <a:t>Prioritized Sweeping became more effective as n increased,</a:t>
                </a:r>
              </a:p>
              <a:p>
                <a:pPr marL="0" indent="0" algn="l" rtl="0">
                  <a:buNone/>
                </a:pPr>
                <a:r>
                  <a:rPr lang="en-US" dirty="0"/>
                  <a:t>because useful updates were propagated faster through the model.</a:t>
                </a:r>
              </a:p>
              <a:p>
                <a:pPr marL="0" indent="0" algn="l" rtl="0">
                  <a:buNone/>
                </a:pPr>
                <a:endParaRPr lang="he-IL" b="1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DE973720-84E0-7376-50A7-93FF44FD1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5" t="-10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0926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7941B54-478C-82CD-6AEA-54B05B0E4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</p:spPr>
        <p:txBody>
          <a:bodyPr/>
          <a:lstStyle/>
          <a:p>
            <a:pPr algn="l" rtl="0"/>
            <a:r>
              <a:rPr lang="he-IL" sz="4300" b="1" i="0" spc="300" dirty="0" err="1">
                <a:latin typeface="+mn-lt"/>
                <a:ea typeface="+mn-ea"/>
                <a:cs typeface="+mn-cs"/>
              </a:rPr>
              <a:t>Analysis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of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the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Temporary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Increase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in</a:t>
            </a:r>
            <a:r>
              <a:rPr lang="he-IL" sz="4300" b="1" i="0" spc="300" dirty="0">
                <a:latin typeface="+mn-lt"/>
                <a:ea typeface="+mn-ea"/>
                <a:cs typeface="+mn-cs"/>
              </a:rPr>
              <a:t> </a:t>
            </a:r>
            <a:r>
              <a:rPr lang="he-IL" sz="4300" b="1" i="0" spc="300" dirty="0" err="1">
                <a:latin typeface="+mn-lt"/>
                <a:ea typeface="+mn-ea"/>
                <a:cs typeface="+mn-cs"/>
              </a:rPr>
              <a:t>Errors</a:t>
            </a:r>
            <a:endParaRPr lang="en-US" sz="4300" b="1" i="0" spc="3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0F4BAE9-1976-16BA-1D38-17B664B9E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7433" y="2009554"/>
            <a:ext cx="7317133" cy="402442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97374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9C3091-A388-7F9F-9618-07A882FC1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/>
          <a:p>
            <a:r>
              <a:rPr lang="en-US" b="1" i="0" spc="300"/>
              <a:t>Questions?</a:t>
            </a:r>
            <a:endParaRPr lang="he-IL" b="1" i="0" spc="300"/>
          </a:p>
        </p:txBody>
      </p:sp>
    </p:spTree>
    <p:extLst>
      <p:ext uri="{BB962C8B-B14F-4D97-AF65-F5344CB8AC3E}">
        <p14:creationId xmlns:p14="http://schemas.microsoft.com/office/powerpoint/2010/main" val="1898106541"/>
      </p:ext>
    </p:extLst>
  </p:cSld>
  <p:clrMapOvr>
    <a:masterClrMapping/>
  </p:clrMapOvr>
</p:sld>
</file>

<file path=ppt/theme/theme1.xml><?xml version="1.0" encoding="utf-8"?>
<a:theme xmlns:a="http://schemas.openxmlformats.org/drawingml/2006/main" name="tgt.TF00153299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gt.TF00153299" id="{A5DE9EB5-AC04-45B2-9F1E-53A59D3693E3}" vid="{45BC6BA5-38F6-41B8-BD2E-E85121DBE922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DC0C573-A757-430B-B747-4C61AA2E7DC7}">
  <we:reference id="4b785c87-866c-4bad-85d8-5d1ae467ac9a" version="3.26.0.0" store="EXCatalog" storeType="EXCatalog"/>
  <we:alternateReferences>
    <we:reference id="WA104381909" version="3.26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קווים זוויתיות</Template>
  <TotalTime>1838</TotalTime>
  <Words>1826</Words>
  <Application>Microsoft Office PowerPoint</Application>
  <PresentationFormat>מסך רחב</PresentationFormat>
  <Paragraphs>264</Paragraphs>
  <Slides>27</Slides>
  <Notes>19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27</vt:i4>
      </vt:variant>
    </vt:vector>
  </HeadingPairs>
  <TitlesOfParts>
    <vt:vector size="33" baseType="lpstr">
      <vt:lpstr>Aptos</vt:lpstr>
      <vt:lpstr>Arial</vt:lpstr>
      <vt:lpstr>Cambria Math</vt:lpstr>
      <vt:lpstr>Univers Condensed Light</vt:lpstr>
      <vt:lpstr>Walbaum Display Light</vt:lpstr>
      <vt:lpstr>tgt.TF00153299</vt:lpstr>
      <vt:lpstr>Reinforcement Learning Project</vt:lpstr>
      <vt:lpstr>Environment</vt:lpstr>
      <vt:lpstr>SARSA</vt:lpstr>
      <vt:lpstr>Prioritized Sweeping</vt:lpstr>
      <vt:lpstr>Kernel Generalization</vt:lpstr>
      <vt:lpstr>Kernel Definition</vt:lpstr>
      <vt:lpstr>Ablation Study</vt:lpstr>
      <vt:lpstr>Reward Design Study</vt:lpstr>
      <vt:lpstr>Reward 3 - Milestone-Based</vt:lpstr>
      <vt:lpstr>מצגת של PowerPoint‏</vt:lpstr>
      <vt:lpstr>מצגת של PowerPoint‏</vt:lpstr>
      <vt:lpstr>Reward 3 - Preliminary Findings</vt:lpstr>
      <vt:lpstr>Reward 4 - Distance-based </vt:lpstr>
      <vt:lpstr>מצגת של PowerPoint‏</vt:lpstr>
      <vt:lpstr>מצגת של PowerPoint‏</vt:lpstr>
      <vt:lpstr>Reward 4 - Preliminary Findings</vt:lpstr>
      <vt:lpstr>Policy Evaluation</vt:lpstr>
      <vt:lpstr>Reward 3  -Extended Training Solves the Problem</vt:lpstr>
      <vt:lpstr>Why Reward 4 Failed</vt:lpstr>
      <vt:lpstr>מצגת של PowerPoint‏</vt:lpstr>
      <vt:lpstr>מצגת של PowerPoint‏</vt:lpstr>
      <vt:lpstr>Exploration Study: Effect of ε</vt:lpstr>
      <vt:lpstr>מצגת של PowerPoint‏</vt:lpstr>
      <vt:lpstr>מצגת של PowerPoint‏</vt:lpstr>
      <vt:lpstr>Planning Study: Effect of Planning Steps (n)</vt:lpstr>
      <vt:lpstr>Analysis of the Temporary Increase in Errors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גל מויאל</dc:creator>
  <cp:lastModifiedBy>עדן פורמן</cp:lastModifiedBy>
  <cp:revision>3</cp:revision>
  <dcterms:created xsi:type="dcterms:W3CDTF">2026-06-13T13:42:23Z</dcterms:created>
  <dcterms:modified xsi:type="dcterms:W3CDTF">2026-06-30T10:25:31Z</dcterms:modified>
</cp:coreProperties>
</file>